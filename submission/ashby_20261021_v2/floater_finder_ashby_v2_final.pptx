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6256000" cy="9144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1625559" rtl="0" fontAlgn="auto" latinLnBrk="0" hangingPunct="0">
      <a:lnSpc>
        <a:spcPct val="90000"/>
      </a:lnSpc>
      <a:spcBef>
        <a:spcPts val="30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Neue"/>
      </a:defRPr>
    </a:lvl1pPr>
    <a:lvl2pPr marL="0" marR="0" indent="457200" algn="l" defTabSz="1625559" rtl="0" fontAlgn="auto" latinLnBrk="0" hangingPunct="0">
      <a:lnSpc>
        <a:spcPct val="90000"/>
      </a:lnSpc>
      <a:spcBef>
        <a:spcPts val="30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Neue"/>
      </a:defRPr>
    </a:lvl2pPr>
    <a:lvl3pPr marL="0" marR="0" indent="914400" algn="l" defTabSz="1625559" rtl="0" fontAlgn="auto" latinLnBrk="0" hangingPunct="0">
      <a:lnSpc>
        <a:spcPct val="90000"/>
      </a:lnSpc>
      <a:spcBef>
        <a:spcPts val="30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Neue"/>
      </a:defRPr>
    </a:lvl3pPr>
    <a:lvl4pPr marL="0" marR="0" indent="1371600" algn="l" defTabSz="1625559" rtl="0" fontAlgn="auto" latinLnBrk="0" hangingPunct="0">
      <a:lnSpc>
        <a:spcPct val="90000"/>
      </a:lnSpc>
      <a:spcBef>
        <a:spcPts val="30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Neue"/>
      </a:defRPr>
    </a:lvl4pPr>
    <a:lvl5pPr marL="0" marR="0" indent="1828800" algn="l" defTabSz="1625559" rtl="0" fontAlgn="auto" latinLnBrk="0" hangingPunct="0">
      <a:lnSpc>
        <a:spcPct val="90000"/>
      </a:lnSpc>
      <a:spcBef>
        <a:spcPts val="30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Neue"/>
      </a:defRPr>
    </a:lvl5pPr>
    <a:lvl6pPr marL="0" marR="0" indent="2286000" algn="l" defTabSz="1625559" rtl="0" fontAlgn="auto" latinLnBrk="0" hangingPunct="0">
      <a:lnSpc>
        <a:spcPct val="90000"/>
      </a:lnSpc>
      <a:spcBef>
        <a:spcPts val="30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Neue"/>
      </a:defRPr>
    </a:lvl6pPr>
    <a:lvl7pPr marL="0" marR="0" indent="2743200" algn="l" defTabSz="1625559" rtl="0" fontAlgn="auto" latinLnBrk="0" hangingPunct="0">
      <a:lnSpc>
        <a:spcPct val="90000"/>
      </a:lnSpc>
      <a:spcBef>
        <a:spcPts val="30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Neue"/>
      </a:defRPr>
    </a:lvl7pPr>
    <a:lvl8pPr marL="0" marR="0" indent="3200400" algn="l" defTabSz="1625559" rtl="0" fontAlgn="auto" latinLnBrk="0" hangingPunct="0">
      <a:lnSpc>
        <a:spcPct val="90000"/>
      </a:lnSpc>
      <a:spcBef>
        <a:spcPts val="30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Neue"/>
      </a:defRPr>
    </a:lvl8pPr>
    <a:lvl9pPr marL="0" marR="0" indent="3657600" algn="l" defTabSz="1625559" rtl="0" fontAlgn="auto" latinLnBrk="0" hangingPunct="0">
      <a:lnSpc>
        <a:spcPct val="90000"/>
      </a:lnSpc>
      <a:spcBef>
        <a:spcPts val="30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3175" cap="flat">
              <a:solidFill>
                <a:srgbClr val="000000"/>
              </a:solidFill>
              <a:prstDash val="solid"/>
              <a:miter lim="400000"/>
            </a:ln>
          </a:left>
          <a:right>
            <a:ln w="12700"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firstCol>
    <a:lastRow>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12700"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lastRow>
    <a:firstRow>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12700"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3175" cap="flat">
              <a:solidFill>
                <a:srgbClr val="536773"/>
              </a:solidFill>
              <a:prstDash val="solid"/>
              <a:miter lim="400000"/>
            </a:ln>
          </a:left>
          <a:right>
            <a:ln w="3175" cap="flat">
              <a:solidFill>
                <a:srgbClr val="536773"/>
              </a:solidFill>
              <a:prstDash val="solid"/>
              <a:miter lim="400000"/>
            </a:ln>
          </a:right>
          <a:top>
            <a:ln w="3175" cap="flat">
              <a:solidFill>
                <a:srgbClr val="536773"/>
              </a:solidFill>
              <a:prstDash val="solid"/>
              <a:miter lim="400000"/>
            </a:ln>
          </a:top>
          <a:bottom>
            <a:ln w="3175" cap="flat">
              <a:solidFill>
                <a:srgbClr val="536773"/>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536773"/>
              </a:solidFill>
              <a:prstDash val="solid"/>
              <a:miter lim="400000"/>
            </a:ln>
          </a:top>
          <a:bottom>
            <a:ln w="3175" cap="flat">
              <a:solidFill>
                <a:srgbClr val="536773"/>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noFill/>
        </a:fill>
      </a:tcStyle>
    </a:firstCol>
    <a:lastRow>
      <a:tcTxStyle b="off" i="off">
        <a:fontRef idx="minor">
          <a:srgbClr val="000000"/>
        </a:fontRef>
        <a:srgbClr val="000000"/>
      </a:tcTxStyle>
      <a:tcStyle>
        <a:tcBdr>
          <a:left>
            <a:ln w="3175" cap="flat">
              <a:solidFill>
                <a:srgbClr val="536773"/>
              </a:solidFill>
              <a:prstDash val="solid"/>
              <a:miter lim="400000"/>
            </a:ln>
          </a:left>
          <a:right>
            <a:ln w="3175" cap="flat">
              <a:solidFill>
                <a:srgbClr val="536773"/>
              </a:solidFill>
              <a:prstDash val="solid"/>
              <a:miter lim="400000"/>
            </a:ln>
          </a:right>
          <a:top>
            <a:ln w="12700" cap="flat">
              <a:solidFill>
                <a:srgbClr val="000000"/>
              </a:solidFill>
              <a:prstDash val="solid"/>
              <a:miter lim="400000"/>
            </a:ln>
          </a:top>
          <a:bottom>
            <a:ln w="3175" cap="flat">
              <a:solidFill>
                <a:srgbClr val="000000"/>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noFill/>
        </a:fill>
      </a:tcStyle>
    </a:lastRow>
    <a:firstRow>
      <a:tcTxStyle b="on" i="off">
        <a:fontRef idx="minor">
          <a:srgbClr val="000000"/>
        </a:fontRef>
        <a:srgbClr val="000000"/>
      </a:tcTxStyle>
      <a:tcStyle>
        <a:tcBdr>
          <a:left>
            <a:ln w="3175" cap="flat">
              <a:solidFill>
                <a:srgbClr val="536773"/>
              </a:solidFill>
              <a:prstDash val="solid"/>
              <a:miter lim="400000"/>
            </a:ln>
          </a:left>
          <a:right>
            <a:ln w="3175" cap="flat">
              <a:solidFill>
                <a:srgbClr val="536773"/>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3175" cap="flat">
              <a:solidFill>
                <a:srgbClr val="838383"/>
              </a:solidFill>
              <a:prstDash val="solid"/>
              <a:miter lim="400000"/>
            </a:ln>
          </a:left>
          <a:right>
            <a:ln w="3175" cap="flat">
              <a:solidFill>
                <a:srgbClr val="838383"/>
              </a:solidFill>
              <a:prstDash val="solid"/>
              <a:miter lim="400000"/>
            </a:ln>
          </a:right>
          <a:top>
            <a:ln w="3175" cap="flat">
              <a:solidFill>
                <a:srgbClr val="838383"/>
              </a:solidFill>
              <a:prstDash val="solid"/>
              <a:miter lim="400000"/>
            </a:ln>
          </a:top>
          <a:bottom>
            <a:ln w="3175" cap="flat">
              <a:solidFill>
                <a:srgbClr val="838383"/>
              </a:solidFill>
              <a:prstDash val="solid"/>
              <a:miter lim="400000"/>
            </a:ln>
          </a:bottom>
          <a:insideH>
            <a:ln w="3175" cap="flat">
              <a:solidFill>
                <a:srgbClr val="838383"/>
              </a:solidFill>
              <a:prstDash val="solid"/>
              <a:miter lim="400000"/>
            </a:ln>
          </a:insideH>
          <a:insideV>
            <a:ln w="3175"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3175" cap="flat">
              <a:solidFill>
                <a:srgbClr val="4D4D4D"/>
              </a:solidFill>
              <a:prstDash val="solid"/>
              <a:miter lim="400000"/>
            </a:ln>
          </a:left>
          <a:right>
            <a:ln w="3175" cap="flat">
              <a:solidFill>
                <a:srgbClr val="808080"/>
              </a:solidFill>
              <a:prstDash val="solid"/>
              <a:miter lim="400000"/>
            </a:ln>
          </a:right>
          <a:top>
            <a:ln w="3175" cap="flat">
              <a:solidFill>
                <a:srgbClr val="808080"/>
              </a:solidFill>
              <a:prstDash val="solid"/>
              <a:miter lim="400000"/>
            </a:ln>
          </a:top>
          <a:bottom>
            <a:ln w="3175" cap="flat">
              <a:solidFill>
                <a:srgbClr val="808080"/>
              </a:solidFill>
              <a:prstDash val="solid"/>
              <a:miter lim="400000"/>
            </a:ln>
          </a:bottom>
          <a:insideH>
            <a:ln w="3175" cap="flat">
              <a:solidFill>
                <a:srgbClr val="808080"/>
              </a:solidFill>
              <a:prstDash val="solid"/>
              <a:miter lim="400000"/>
            </a:ln>
          </a:insideH>
          <a:insideV>
            <a:ln w="3175"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12700" cap="flat">
              <a:solidFill>
                <a:schemeClr val="accent3"/>
              </a:solidFill>
              <a:prstDash val="solid"/>
              <a:miter lim="400000"/>
            </a:ln>
          </a:top>
          <a:bottom>
            <a:ln w="3175" cap="flat">
              <a:solidFill>
                <a:srgbClr val="4D4D4D"/>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3175" cap="flat">
              <a:solidFill>
                <a:srgbClr val="4D4D4D"/>
              </a:solidFill>
              <a:prstDash val="solid"/>
              <a:miter lim="400000"/>
            </a:ln>
          </a:left>
          <a:right>
            <a:ln w="3175" cap="flat">
              <a:solidFill>
                <a:srgbClr val="4D4D4D"/>
              </a:solidFill>
              <a:prstDash val="solid"/>
              <a:miter lim="400000"/>
            </a:ln>
          </a:right>
          <a:top>
            <a:ln w="3175" cap="flat">
              <a:solidFill>
                <a:srgbClr val="4D4D4D"/>
              </a:solidFill>
              <a:prstDash val="solid"/>
              <a:miter lim="400000"/>
            </a:ln>
          </a:top>
          <a:bottom>
            <a:ln w="3175" cap="flat">
              <a:solidFill>
                <a:srgbClr val="4D4D4D"/>
              </a:solidFill>
              <a:prstDash val="solid"/>
              <a:miter lim="400000"/>
            </a:ln>
          </a:bottom>
          <a:insideH>
            <a:ln w="3175" cap="flat">
              <a:solidFill>
                <a:srgbClr val="4D4D4D"/>
              </a:solidFill>
              <a:prstDash val="solid"/>
              <a:miter lim="400000"/>
            </a:ln>
          </a:insideH>
          <a:insideV>
            <a:ln w="3175"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3175" cap="flat">
              <a:solidFill>
                <a:srgbClr val="5B5A5A"/>
              </a:solidFill>
              <a:prstDash val="solid"/>
              <a:miter lim="400000"/>
            </a:ln>
          </a:left>
          <a:right>
            <a:ln w="3175" cap="flat">
              <a:solidFill>
                <a:srgbClr val="5B5A5A"/>
              </a:solidFill>
              <a:prstDash val="solid"/>
              <a:miter lim="400000"/>
            </a:ln>
          </a:right>
          <a:top>
            <a:ln w="3175" cap="flat">
              <a:solidFill>
                <a:srgbClr val="5B5A5A"/>
              </a:solidFill>
              <a:prstDash val="solid"/>
              <a:miter lim="400000"/>
            </a:ln>
          </a:top>
          <a:bottom>
            <a:ln w="3175" cap="flat">
              <a:solidFill>
                <a:srgbClr val="5B5A5A"/>
              </a:solidFill>
              <a:prstDash val="solid"/>
              <a:miter lim="400000"/>
            </a:ln>
          </a:bottom>
          <a:insideH>
            <a:ln w="3175" cap="flat">
              <a:solidFill>
                <a:srgbClr val="5B5A5A"/>
              </a:solidFill>
              <a:prstDash val="solid"/>
              <a:miter lim="400000"/>
            </a:ln>
          </a:insideH>
          <a:insideV>
            <a:ln w="3175"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3175" cap="flat">
              <a:solidFill>
                <a:srgbClr val="5B5A5A"/>
              </a:solidFill>
              <a:prstDash val="solid"/>
              <a:miter lim="400000"/>
            </a:ln>
          </a:left>
          <a:right>
            <a:ln w="3175" cap="flat">
              <a:solidFill>
                <a:srgbClr val="5B5A5A"/>
              </a:solidFill>
              <a:prstDash val="solid"/>
              <a:miter lim="400000"/>
            </a:ln>
          </a:right>
          <a:top>
            <a:ln w="3175" cap="flat">
              <a:solidFill>
                <a:srgbClr val="5B5A5A"/>
              </a:solidFill>
              <a:prstDash val="solid"/>
              <a:miter lim="400000"/>
            </a:ln>
          </a:top>
          <a:bottom>
            <a:ln w="3175" cap="flat">
              <a:solidFill>
                <a:srgbClr val="5B5A5A"/>
              </a:solidFill>
              <a:prstDash val="solid"/>
              <a:miter lim="400000"/>
            </a:ln>
          </a:bottom>
          <a:insideH>
            <a:ln w="3175" cap="flat">
              <a:solidFill>
                <a:srgbClr val="5B5A5A"/>
              </a:solidFill>
              <a:prstDash val="solid"/>
              <a:miter lim="400000"/>
            </a:ln>
          </a:insideH>
          <a:insideV>
            <a:ln w="3175"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3175" cap="flat">
              <a:solidFill>
                <a:srgbClr val="5B5A5A"/>
              </a:solidFill>
              <a:prstDash val="solid"/>
              <a:miter lim="400000"/>
            </a:ln>
          </a:left>
          <a:right>
            <a:ln w="3175" cap="flat">
              <a:solidFill>
                <a:srgbClr val="5B5A5A"/>
              </a:solidFill>
              <a:prstDash val="solid"/>
              <a:miter lim="400000"/>
            </a:ln>
          </a:right>
          <a:top>
            <a:ln w="12700" cap="flat">
              <a:solidFill>
                <a:srgbClr val="F8BA00"/>
              </a:solidFill>
              <a:prstDash val="solid"/>
              <a:miter lim="400000"/>
            </a:ln>
          </a:top>
          <a:bottom>
            <a:ln w="3175" cap="flat">
              <a:solidFill>
                <a:srgbClr val="5B5A5A"/>
              </a:solidFill>
              <a:prstDash val="solid"/>
              <a:miter lim="400000"/>
            </a:ln>
          </a:bottom>
          <a:insideH>
            <a:ln w="3175" cap="flat">
              <a:solidFill>
                <a:srgbClr val="5B5A5A"/>
              </a:solidFill>
              <a:prstDash val="solid"/>
              <a:miter lim="400000"/>
            </a:ln>
          </a:insideH>
          <a:insideV>
            <a:ln w="3175"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3175" cap="flat">
              <a:solidFill>
                <a:srgbClr val="5B5A5A"/>
              </a:solidFill>
              <a:prstDash val="solid"/>
              <a:miter lim="400000"/>
            </a:ln>
          </a:left>
          <a:right>
            <a:ln w="3175" cap="flat">
              <a:solidFill>
                <a:srgbClr val="5B5A5A"/>
              </a:solidFill>
              <a:prstDash val="solid"/>
              <a:miter lim="400000"/>
            </a:ln>
          </a:right>
          <a:top>
            <a:ln w="3175" cap="flat">
              <a:solidFill>
                <a:srgbClr val="5B5A5A"/>
              </a:solidFill>
              <a:prstDash val="solid"/>
              <a:miter lim="400000"/>
            </a:ln>
          </a:top>
          <a:bottom>
            <a:ln w="3175" cap="flat">
              <a:solidFill>
                <a:srgbClr val="5B5A5A"/>
              </a:solidFill>
              <a:prstDash val="solid"/>
              <a:miter lim="400000"/>
            </a:ln>
          </a:bottom>
          <a:insideH>
            <a:ln w="3175" cap="flat">
              <a:solidFill>
                <a:srgbClr val="5B5A5A"/>
              </a:solidFill>
              <a:prstDash val="solid"/>
              <a:miter lim="400000"/>
            </a:ln>
          </a:insideH>
          <a:insideV>
            <a:ln w="3175"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3175" cap="flat">
              <a:solidFill>
                <a:srgbClr val="464646"/>
              </a:solidFill>
              <a:prstDash val="solid"/>
              <a:miter lim="400000"/>
            </a:ln>
          </a:left>
          <a:right>
            <a:ln w="3175" cap="flat">
              <a:solidFill>
                <a:srgbClr val="464646"/>
              </a:solidFill>
              <a:prstDash val="solid"/>
              <a:miter lim="400000"/>
            </a:ln>
          </a:right>
          <a:top>
            <a:ln w="3175" cap="flat">
              <a:solidFill>
                <a:srgbClr val="464646"/>
              </a:solidFill>
              <a:prstDash val="solid"/>
              <a:miter lim="400000"/>
            </a:ln>
          </a:top>
          <a:bottom>
            <a:ln w="3175" cap="flat">
              <a:solidFill>
                <a:srgbClr val="464646"/>
              </a:solidFill>
              <a:prstDash val="solid"/>
              <a:miter lim="400000"/>
            </a:ln>
          </a:bottom>
          <a:insideH>
            <a:ln w="3175" cap="flat">
              <a:solidFill>
                <a:srgbClr val="464646"/>
              </a:solidFill>
              <a:prstDash val="solid"/>
              <a:miter lim="400000"/>
            </a:ln>
          </a:insideH>
          <a:insideV>
            <a:ln w="3175"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3175" cap="flat">
              <a:solidFill>
                <a:srgbClr val="5E5E5E"/>
              </a:solidFill>
              <a:prstDash val="solid"/>
              <a:miter lim="400000"/>
            </a:ln>
          </a:left>
          <a:right>
            <a:ln w="3175" cap="flat">
              <a:solidFill>
                <a:srgbClr val="A6AAA9"/>
              </a:solidFill>
              <a:prstDash val="solid"/>
              <a:miter lim="400000"/>
            </a:ln>
          </a:right>
          <a:top>
            <a:ln w="3175" cap="flat">
              <a:solidFill>
                <a:srgbClr val="C3C3C3"/>
              </a:solidFill>
              <a:prstDash val="solid"/>
              <a:miter lim="400000"/>
            </a:ln>
          </a:top>
          <a:bottom>
            <a:ln w="3175" cap="flat">
              <a:solidFill>
                <a:srgbClr val="C3C3C3"/>
              </a:solidFill>
              <a:prstDash val="solid"/>
              <a:miter lim="400000"/>
            </a:ln>
          </a:bottom>
          <a:insideH>
            <a:ln w="3175" cap="flat">
              <a:solidFill>
                <a:srgbClr val="C3C3C3"/>
              </a:solidFill>
              <a:prstDash val="solid"/>
              <a:miter lim="400000"/>
            </a:ln>
          </a:insideH>
          <a:insideV>
            <a:ln w="3175"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3175" cap="flat">
              <a:solidFill>
                <a:srgbClr val="5E5E5E"/>
              </a:solidFill>
              <a:prstDash val="solid"/>
              <a:miter lim="400000"/>
            </a:ln>
          </a:left>
          <a:right>
            <a:ln w="3175" cap="flat">
              <a:solidFill>
                <a:srgbClr val="5E5E5E"/>
              </a:solidFill>
              <a:prstDash val="solid"/>
              <a:miter lim="400000"/>
            </a:ln>
          </a:right>
          <a:top>
            <a:ln w="12700" cap="flat">
              <a:solidFill>
                <a:srgbClr val="CB297B"/>
              </a:solidFill>
              <a:prstDash val="solid"/>
              <a:miter lim="400000"/>
            </a:ln>
          </a:top>
          <a:bottom>
            <a:ln w="3175" cap="flat">
              <a:solidFill>
                <a:srgbClr val="5E5E5E"/>
              </a:solidFill>
              <a:prstDash val="solid"/>
              <a:miter lim="400000"/>
            </a:ln>
          </a:bottom>
          <a:insideH>
            <a:ln w="3175" cap="flat">
              <a:solidFill>
                <a:srgbClr val="5E5E5E"/>
              </a:solidFill>
              <a:prstDash val="solid"/>
              <a:miter lim="400000"/>
            </a:ln>
          </a:insideH>
          <a:insideV>
            <a:ln w="3175"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5E5E5E"/>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3175" cap="flat">
              <a:solidFill>
                <a:srgbClr val="6C6C6C"/>
              </a:solidFill>
              <a:prstDash val="solid"/>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prstDash val="solid"/>
              <a:miter lim="400000"/>
            </a:ln>
          </a:insideV>
        </a:tcBdr>
        <a:fill>
          <a:noFill/>
        </a:fill>
      </a:tcStyle>
    </a:firstCol>
    <a:lastRow>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6C6C6C"/>
              </a:solidFill>
              <a:prstDash val="solid"/>
              <a:miter lim="400000"/>
            </a:ln>
          </a:bottom>
          <a:insideH>
            <a:ln w="3175" cap="flat">
              <a:solidFill>
                <a:srgbClr val="000000"/>
              </a:solidFill>
              <a:custDash>
                <a:ds d="200000" sp="200000"/>
              </a:custDash>
              <a:miter lim="400000"/>
            </a:ln>
          </a:insideH>
          <a:insideV>
            <a:ln w="3175" cap="flat">
              <a:solidFill>
                <a:srgbClr val="000000"/>
              </a:solidFill>
              <a:prstDash val="solid"/>
              <a:miter lim="400000"/>
            </a:ln>
          </a:insideV>
        </a:tcBdr>
        <a:fill>
          <a:noFill/>
        </a:fill>
      </a:tcStyle>
    </a:lastRow>
    <a:firstRow>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6C6C6C"/>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756754"/>
          <c:y val="0.0562459"/>
          <c:w val="0.90869"/>
          <c:h val="0.850887"/>
        </c:manualLayout>
      </c:layout>
      <c:lineChart>
        <c:grouping val="standard"/>
        <c:varyColors val="0"/>
        <c:ser>
          <c:idx val="0"/>
          <c:order val="0"/>
          <c:tx>
            <c:strRef>
              <c:f>Sheet1!$A$2</c:f>
              <c:strCache>
                <c:ptCount val="1"/>
                <c:pt idx="0">
                  <c:v>Mean</c:v>
                </c:pt>
              </c:strCache>
            </c:strRef>
          </c:tx>
          <c:spPr>
            <a:solidFill>
              <a:srgbClr val="FFFFFF"/>
            </a:solidFill>
            <a:ln w="76200" cap="flat">
              <a:solidFill>
                <a:schemeClr val="accent1"/>
              </a:solidFill>
              <a:prstDash val="solid"/>
              <a:miter lim="400000"/>
            </a:ln>
            <a:effectLst/>
          </c:spPr>
          <c:marker>
            <c:symbol val="none"/>
            <c:size val="6"/>
            <c:spPr>
              <a:solidFill>
                <a:srgbClr val="FFFFFF"/>
              </a:solidFill>
              <a:ln w="76200" cap="flat">
                <a:solidFill>
                  <a:schemeClr val="accent1"/>
                </a:solidFill>
                <a:prstDash val="solid"/>
                <a:miter lim="400000"/>
              </a:ln>
              <a:effectLst/>
            </c:spPr>
          </c:marker>
          <c:dLbls>
            <c:numFmt formatCode="#,##0" sourceLinked="0"/>
            <c:txPr>
              <a:bodyPr/>
              <a:lstStyle/>
              <a:p>
                <a:pPr>
                  <a:defRPr b="0" i="0" strike="noStrike" sz="3200" u="none">
                    <a:solidFill>
                      <a:srgbClr val="000000"/>
                    </a:solidFill>
                    <a:latin typeface="Helvetica Neue"/>
                  </a:defRPr>
                </a:pPr>
              </a:p>
            </c:txPr>
            <c:dLblPos val="b"/>
            <c:showLegendKey val="0"/>
            <c:showVal val="0"/>
            <c:showCatName val="0"/>
            <c:showSerName val="0"/>
            <c:showPercent val="0"/>
            <c:showBubbleSize val="0"/>
            <c:showLeaderLines val="0"/>
          </c:dLbls>
          <c:cat>
            <c:strRef>
              <c:f>Sheet1!$B$1:$G$1</c:f>
              <c:strCache>
                <c:ptCount val="6"/>
                <c:pt idx="0">
                  <c:v>0</c:v>
                </c:pt>
                <c:pt idx="1">
                  <c:v>0.5</c:v>
                </c:pt>
                <c:pt idx="2">
                  <c:v>1</c:v>
                </c:pt>
                <c:pt idx="3">
                  <c:v>2</c:v>
                </c:pt>
                <c:pt idx="4">
                  <c:v>5</c:v>
                </c:pt>
                <c:pt idx="5">
                  <c:v>10</c:v>
                </c:pt>
              </c:strCache>
            </c:strRef>
          </c:cat>
          <c:val>
            <c:numRef>
              <c:f>Sheet1!$B$2:$G$2</c:f>
              <c:numCache>
                <c:ptCount val="6"/>
                <c:pt idx="0">
                  <c:v>0.000000</c:v>
                </c:pt>
                <c:pt idx="1">
                  <c:v>0.000000</c:v>
                </c:pt>
                <c:pt idx="2">
                  <c:v>0.000000</c:v>
                </c:pt>
                <c:pt idx="3">
                  <c:v>0.000000</c:v>
                </c:pt>
                <c:pt idx="4">
                  <c:v>12.500000</c:v>
                </c:pt>
                <c:pt idx="5">
                  <c:v>50.000000</c:v>
                </c:pt>
              </c:numCache>
            </c:numRef>
          </c:val>
          <c:smooth val="0"/>
        </c:ser>
        <c:ser>
          <c:idx val="1"/>
          <c:order val="1"/>
          <c:tx>
            <c:strRef>
              <c:f>Sheet1!$A$3</c:f>
              <c:strCache>
                <c:ptCount val="1"/>
                <c:pt idx="0">
                  <c:v>Top 1%</c:v>
                </c:pt>
              </c:strCache>
            </c:strRef>
          </c:tx>
          <c:spPr>
            <a:solidFill>
              <a:srgbClr val="FFFFFF"/>
            </a:solidFill>
            <a:ln w="76200" cap="flat">
              <a:solidFill>
                <a:schemeClr val="accent3"/>
              </a:solidFill>
              <a:prstDash val="solid"/>
              <a:miter lim="400000"/>
            </a:ln>
            <a:effectLst/>
          </c:spPr>
          <c:marker>
            <c:symbol val="none"/>
            <c:size val="6"/>
            <c:spPr>
              <a:solidFill>
                <a:srgbClr val="FFFFFF"/>
              </a:solidFill>
              <a:ln w="76200" cap="flat">
                <a:solidFill>
                  <a:schemeClr val="accent3"/>
                </a:solidFill>
                <a:prstDash val="solid"/>
                <a:miter lim="400000"/>
              </a:ln>
              <a:effectLst/>
            </c:spPr>
          </c:marker>
          <c:dLbls>
            <c:numFmt formatCode="#,##0" sourceLinked="0"/>
            <c:txPr>
              <a:bodyPr/>
              <a:lstStyle/>
              <a:p>
                <a:pPr>
                  <a:defRPr b="0" i="0" strike="noStrike" sz="3200" u="none">
                    <a:solidFill>
                      <a:srgbClr val="000000"/>
                    </a:solidFill>
                    <a:latin typeface="Helvetica Neue"/>
                  </a:defRPr>
                </a:pPr>
              </a:p>
            </c:txPr>
            <c:dLblPos val="b"/>
            <c:showLegendKey val="0"/>
            <c:showVal val="0"/>
            <c:showCatName val="0"/>
            <c:showSerName val="0"/>
            <c:showPercent val="0"/>
            <c:showBubbleSize val="0"/>
            <c:showLeaderLines val="0"/>
          </c:dLbls>
          <c:cat>
            <c:strRef>
              <c:f>Sheet1!$B$1:$G$1</c:f>
              <c:strCache>
                <c:ptCount val="6"/>
                <c:pt idx="0">
                  <c:v>0</c:v>
                </c:pt>
                <c:pt idx="1">
                  <c:v>0.5</c:v>
                </c:pt>
                <c:pt idx="2">
                  <c:v>1</c:v>
                </c:pt>
                <c:pt idx="3">
                  <c:v>2</c:v>
                </c:pt>
                <c:pt idx="4">
                  <c:v>5</c:v>
                </c:pt>
                <c:pt idx="5">
                  <c:v>10</c:v>
                </c:pt>
              </c:strCache>
            </c:strRef>
          </c:cat>
          <c:val>
            <c:numRef>
              <c:f>Sheet1!$B$3:$G$3</c:f>
              <c:numCache>
                <c:ptCount val="6"/>
                <c:pt idx="0">
                  <c:v>0.000000</c:v>
                </c:pt>
                <c:pt idx="1">
                  <c:v>12.500000</c:v>
                </c:pt>
                <c:pt idx="2">
                  <c:v>12.500000</c:v>
                </c:pt>
                <c:pt idx="3">
                  <c:v>12.500000</c:v>
                </c:pt>
                <c:pt idx="4">
                  <c:v>12.500000</c:v>
                </c:pt>
                <c:pt idx="5">
                  <c:v>25.000000</c:v>
                </c:pt>
              </c:numCache>
            </c:numRef>
          </c:val>
          <c:smooth val="0"/>
        </c:ser>
        <c:ser>
          <c:idx val="2"/>
          <c:order val="2"/>
          <c:tx>
            <c:strRef>
              <c:f>Sheet1!$A$4</c:f>
              <c:strCache>
                <c:ptCount val="1"/>
                <c:pt idx="0">
                  <c:v>Top 5%</c:v>
                </c:pt>
              </c:strCache>
            </c:strRef>
          </c:tx>
          <c:spPr>
            <a:solidFill>
              <a:srgbClr val="FFFFFF"/>
            </a:solidFill>
            <a:ln w="76200" cap="flat">
              <a:solidFill>
                <a:srgbClr val="929292"/>
              </a:solidFill>
              <a:prstDash val="solid"/>
              <a:miter lim="400000"/>
            </a:ln>
            <a:effectLst/>
          </c:spPr>
          <c:marker>
            <c:symbol val="none"/>
            <c:size val="6"/>
            <c:spPr>
              <a:solidFill>
                <a:srgbClr val="FFFFFF"/>
              </a:solidFill>
              <a:ln w="76200" cap="flat">
                <a:solidFill>
                  <a:srgbClr val="929292"/>
                </a:solidFill>
                <a:prstDash val="solid"/>
                <a:miter lim="400000"/>
              </a:ln>
              <a:effectLst/>
            </c:spPr>
          </c:marker>
          <c:dLbls>
            <c:numFmt formatCode="#,##0" sourceLinked="0"/>
            <c:txPr>
              <a:bodyPr/>
              <a:lstStyle/>
              <a:p>
                <a:pPr>
                  <a:defRPr b="0" i="0" strike="noStrike" sz="3200" u="none">
                    <a:solidFill>
                      <a:srgbClr val="000000"/>
                    </a:solidFill>
                    <a:latin typeface="Helvetica Neue"/>
                  </a:defRPr>
                </a:pPr>
              </a:p>
            </c:txPr>
            <c:dLblPos val="b"/>
            <c:showLegendKey val="0"/>
            <c:showVal val="0"/>
            <c:showCatName val="0"/>
            <c:showSerName val="0"/>
            <c:showPercent val="0"/>
            <c:showBubbleSize val="0"/>
            <c:showLeaderLines val="0"/>
          </c:dLbls>
          <c:cat>
            <c:strRef>
              <c:f>Sheet1!$B$1:$G$1</c:f>
              <c:strCache>
                <c:ptCount val="6"/>
                <c:pt idx="0">
                  <c:v>0</c:v>
                </c:pt>
                <c:pt idx="1">
                  <c:v>0.5</c:v>
                </c:pt>
                <c:pt idx="2">
                  <c:v>1</c:v>
                </c:pt>
                <c:pt idx="3">
                  <c:v>2</c:v>
                </c:pt>
                <c:pt idx="4">
                  <c:v>5</c:v>
                </c:pt>
                <c:pt idx="5">
                  <c:v>10</c:v>
                </c:pt>
              </c:strCache>
            </c:strRef>
          </c:cat>
          <c:val>
            <c:numRef>
              <c:f>Sheet1!$B$4:$G$4</c:f>
              <c:numCache>
                <c:ptCount val="6"/>
                <c:pt idx="0">
                  <c:v>0.000000</c:v>
                </c:pt>
                <c:pt idx="1">
                  <c:v>12.500000</c:v>
                </c:pt>
                <c:pt idx="2">
                  <c:v>12.500000</c:v>
                </c:pt>
                <c:pt idx="3">
                  <c:v>25.000000</c:v>
                </c:pt>
                <c:pt idx="4">
                  <c:v>25.000000</c:v>
                </c:pt>
                <c:pt idx="5">
                  <c:v>25.000000</c:v>
                </c:pt>
              </c:numCache>
            </c:numRef>
          </c:val>
          <c:smooth val="0"/>
        </c:ser>
        <c:marker val="1"/>
        <c:axId val="2094734552"/>
        <c:axId val="2094734553"/>
      </c:lineChart>
      <c:catAx>
        <c:axId val="2094734552"/>
        <c:scaling>
          <c:orientation val="minMax"/>
        </c:scaling>
        <c:delete val="0"/>
        <c:axPos val="b"/>
        <c:numFmt formatCode="General" sourceLinked="0"/>
        <c:majorTickMark val="none"/>
        <c:minorTickMark val="none"/>
        <c:tickLblPos val="low"/>
        <c:spPr>
          <a:ln w="12700" cap="flat">
            <a:solidFill>
              <a:srgbClr val="000000"/>
            </a:solidFill>
            <a:prstDash val="solid"/>
            <a:miter lim="400000"/>
          </a:ln>
        </c:spPr>
        <c:txPr>
          <a:bodyPr rot="0"/>
          <a:lstStyle/>
          <a:p>
            <a:pPr>
              <a:defRPr b="0" i="0" strike="noStrike" sz="2200" u="none">
                <a:solidFill>
                  <a:srgbClr val="000000"/>
                </a:solidFill>
                <a:latin typeface="Helvetica Neue"/>
              </a:defRPr>
            </a:pPr>
          </a:p>
        </c:txPr>
        <c:crossAx val="2094734553"/>
        <c:crosses val="autoZero"/>
        <c:auto val="1"/>
        <c:lblAlgn val="ctr"/>
        <c:noMultiLvlLbl val="1"/>
      </c:catAx>
      <c:valAx>
        <c:axId val="2094734553"/>
        <c:scaling>
          <c:orientation val="minMax"/>
        </c:scaling>
        <c:delete val="0"/>
        <c:axPos val="l"/>
        <c:majorGridlines>
          <c:spPr>
            <a:ln w="12700" cap="flat">
              <a:solidFill>
                <a:srgbClr val="B8B8B8"/>
              </a:solidFill>
              <a:prstDash val="solid"/>
              <a:miter lim="400000"/>
            </a:ln>
          </c:spPr>
        </c:majorGridlines>
        <c:numFmt formatCode="General" sourceLinked="0"/>
        <c:majorTickMark val="none"/>
        <c:minorTickMark val="none"/>
        <c:tickLblPos val="nextTo"/>
        <c:spPr>
          <a:ln w="12700" cap="flat">
            <a:noFill/>
            <a:prstDash val="solid"/>
            <a:miter lim="400000"/>
          </a:ln>
        </c:spPr>
        <c:txPr>
          <a:bodyPr rot="0"/>
          <a:lstStyle/>
          <a:p>
            <a:pPr>
              <a:defRPr b="0" i="0" strike="noStrike" sz="2200" u="none">
                <a:solidFill>
                  <a:srgbClr val="000000"/>
                </a:solidFill>
                <a:latin typeface="Helvetica Neue"/>
              </a:defRPr>
            </a:pPr>
          </a:p>
        </c:txPr>
        <c:crossAx val="2094734552"/>
        <c:crosses val="autoZero"/>
        <c:crossBetween val="midCat"/>
        <c:majorUnit val="12.5"/>
        <c:minorUnit val="6.25"/>
      </c:valAx>
      <c:spPr>
        <a:noFill/>
        <a:ln w="12700" cap="flat">
          <a:noFill/>
          <a:miter lim="400000"/>
        </a:ln>
        <a:effectLst/>
      </c:spPr>
    </c:plotArea>
    <c:plotVisOnly val="1"/>
    <c:dispBlanksAs val="gap"/>
  </c:chart>
  <c:spPr>
    <a:no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Shape 177"/>
          <p:cNvSpPr/>
          <p:nvPr>
            <p:ph type="sldImg"/>
          </p:nvPr>
        </p:nvSpPr>
        <p:spPr>
          <a:prstGeom prst="rect">
            <a:avLst/>
          </a:prstGeom>
        </p:spPr>
        <p:txBody>
          <a:bodyPr/>
          <a:lstStyle/>
          <a:p>
            <a:pPr/>
          </a:p>
        </p:txBody>
      </p:sp>
      <p:sp>
        <p:nvSpPr>
          <p:cNvPr id="178" name="Shape 178"/>
          <p:cNvSpPr/>
          <p:nvPr>
            <p:ph type="body" sz="quarter" idx="1"/>
          </p:nvPr>
        </p:nvSpPr>
        <p:spPr>
          <a:prstGeom prst="rect">
            <a:avLst/>
          </a:prstGeom>
        </p:spPr>
        <p:txBody>
          <a:bodyPr/>
          <a:lstStyle/>
          <a:p>
            <a:pPr/>
            <a:r>
              <a:t>Floater Finder measures whether a pathology model depends on a small tissue fragment, and whether that evidence supports useful review. We completed a real-data pipeline and controlled stress experiments. We also rejected two review policies when they failed our development targets. This is a safety experiment with explicit failure gates.</a:t>
            </a:r>
          </a:p>
          <a:p>
            <a:pPr/>
          </a:p>
          <a:p>
            <a:pPr/>
            <a:r>
              <a:t>Sources and disclosures:</a:t>
            </a:r>
          </a:p>
          <a:p>
            <a:pPr/>
            <a:r>
              <a:t>Development evidence through commit 06c7b77. No held-out test predictions.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Shape 188"/>
          <p:cNvSpPr/>
          <p:nvPr>
            <p:ph type="sldImg"/>
          </p:nvPr>
        </p:nvSpPr>
        <p:spPr>
          <a:prstGeom prst="rect">
            <a:avLst/>
          </a:prstGeom>
        </p:spPr>
        <p:txBody>
          <a:bodyPr/>
          <a:lstStyle/>
          <a:p>
            <a:pPr/>
          </a:p>
        </p:txBody>
      </p:sp>
      <p:sp>
        <p:nvSpPr>
          <p:cNvPr id="189" name="Shape 189"/>
          <p:cNvSpPr/>
          <p:nvPr>
            <p:ph type="body" sz="quarter" idx="1"/>
          </p:nvPr>
        </p:nvSpPr>
        <p:spPr>
          <a:prstGeom prst="rect">
            <a:avLst/>
          </a:prstGeom>
        </p:spPr>
        <p:txBody>
          <a:bodyPr/>
          <a:lstStyle/>
          <a:p>
            <a:pPr/>
            <a:r>
              <a:t>Extraneous tissue can create diagnostic discrepancies. A disease classifier can recognize cancer without establishing that it belongs to the specimen. These are actual PANDA tiles with native benign and pattern-four annotations. Neither is a verified natural floater. The intended output is evidence for pathologist review, while preserving the tissue.</a:t>
            </a:r>
          </a:p>
          <a:p>
            <a:pPr/>
          </a:p>
          <a:p>
            <a:pPr/>
            <a:r>
              <a:t>Sources and disclosures:</a:t>
            </a:r>
          </a:p>
          <a:p>
            <a:pPr/>
            <a:r>
              <a:t>Clinical context: Sapp et al. 2021, doi:10.14309/crj.0000000000000583. Tiles: media/provenance.json.</a:t>
            </a:r>
          </a:p>
          <a:p>
            <a:pPr/>
            <a:r>
              <a:t>Lu et al., Nature Medicine 2024, https://doi.org/10.1038/s41591-024-02856-4</a:t>
            </a:r>
          </a:p>
          <a:p>
            <a:pPr/>
            <a:r>
              <a:t>Bulten et al., Nature Medicine 2022, https://doi.org/10.1038/s41591-021-01620-2</a:t>
            </a:r>
          </a:p>
          <a:p>
            <a:pPr/>
            <a:r>
              <a:t>Sapp et al., ACG Case Reports Journal 2021, https://doi.org/10.14309/crj.0000000000000583</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Shape 199"/>
          <p:cNvSpPr/>
          <p:nvPr>
            <p:ph type="sldImg"/>
          </p:nvPr>
        </p:nvSpPr>
        <p:spPr>
          <a:prstGeom prst="rect">
            <a:avLst/>
          </a:prstGeom>
        </p:spPr>
        <p:txBody>
          <a:bodyPr/>
          <a:lstStyle/>
          <a:p>
            <a:pPr/>
          </a:p>
        </p:txBody>
      </p:sp>
      <p:sp>
        <p:nvSpPr>
          <p:cNvPr id="200" name="Shape 200"/>
          <p:cNvSpPr/>
          <p:nvPr>
            <p:ph type="body" sz="quarter" idx="1"/>
          </p:nvPr>
        </p:nvSpPr>
        <p:spPr>
          <a:prstGeom prst="rect">
            <a:avLst/>
          </a:prstGeom>
        </p:spPr>
        <p:txBody>
          <a:bodyPr/>
          <a:lstStyle/>
          <a:p>
            <a:pPr/>
            <a:r>
              <a:t>CONCH provides reusable histology representations. Frozen morphology prompts supply our engineering disease scorer. Specimen consistency is a separate task. We therefore examine visual inconsistency, prediction influence and physical context separately. A piece can influence the cancer prediction and still be entirely genuine.</a:t>
            </a:r>
          </a:p>
          <a:p>
            <a:pPr/>
          </a:p>
          <a:p>
            <a:pPr/>
            <a:r>
              <a:t>Sources and disclosures:</a:t>
            </a:r>
          </a:p>
          <a:p>
            <a:pPr/>
            <a:r>
              <a:t>Lu et al., Nature Medicine 2024, doi:10.1038/s41591-024-02856-4. Frozen prompts/config: configs/panda_morphology_v1.yaml.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Shape 208"/>
          <p:cNvSpPr/>
          <p:nvPr>
            <p:ph type="sldImg"/>
          </p:nvPr>
        </p:nvSpPr>
        <p:spPr>
          <a:prstGeom prst="rect">
            <a:avLst/>
          </a:prstGeom>
        </p:spPr>
        <p:txBody>
          <a:bodyPr/>
          <a:lstStyle/>
          <a:p>
            <a:pPr/>
          </a:p>
        </p:txBody>
      </p:sp>
      <p:sp>
        <p:nvSpPr>
          <p:cNvPr id="209" name="Shape 209"/>
          <p:cNvSpPr/>
          <p:nvPr>
            <p:ph type="body" sz="quarter" idx="1"/>
          </p:nvPr>
        </p:nvSpPr>
        <p:spPr>
          <a:prstGeom prst="rect">
            <a:avLst/>
          </a:prstGeom>
        </p:spPr>
        <p:txBody>
          <a:bodyPr/>
          <a:lstStyle/>
          <a:p>
            <a:pPr/>
            <a:r>
              <a:t>Our cohort contains one hundred twenty Radboud biopsies and fifty thousand seven hundred twenty-nine verified embeddings. Slides split seventy-two, twenty-four and twenty-four across training, calibration and held-out test. Patient identities are unavailable. Clean sampling ignores cancer masks. Delta Slurm handled WSI processing and GPU encoding. Subsequent experiments reuse cached features on CPU.</a:t>
            </a:r>
          </a:p>
          <a:p>
            <a:pPr/>
          </a:p>
          <a:p>
            <a:pPr/>
            <a:r>
              <a:t>Sources and disclosures:</a:t>
            </a:r>
          </a:p>
          <a:p>
            <a:pPr/>
            <a:r>
              <a:t>reports/panda_s1_and_piece_results_20261020.md; reports/panda_embeddings_verified_23055022.json; reports/manifests/panda_verified_120_20261020.csv.</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Shape 218"/>
          <p:cNvSpPr/>
          <p:nvPr>
            <p:ph type="sldImg"/>
          </p:nvPr>
        </p:nvSpPr>
        <p:spPr>
          <a:prstGeom prst="rect">
            <a:avLst/>
          </a:prstGeom>
        </p:spPr>
        <p:txBody>
          <a:bodyPr/>
          <a:lstStyle/>
          <a:p>
            <a:pPr/>
          </a:p>
        </p:txBody>
      </p:sp>
      <p:sp>
        <p:nvSpPr>
          <p:cNvPr id="219" name="Shape 219"/>
          <p:cNvSpPr/>
          <p:nvPr>
            <p:ph type="body" sz="quarter" idx="1"/>
          </p:nvPr>
        </p:nvSpPr>
        <p:spPr>
          <a:prstGeom prst="rect">
            <a:avLst/>
          </a:prstGeom>
        </p:spPr>
        <p:txBody>
          <a:bodyPr/>
          <a:lstStyle/>
          <a:p>
            <a:pPr/>
            <a:r>
              <a:t>The clean top-five-percent scorer is correct on twenty of twenty-four calibration slides, with seventy-eight-point-one percent balanced accuracy. It identifies fifteen of sixteen cancer slides, but only five of eight benign slides. Those five originally correct benign hosts define the new-error denominator. The three initial false positives cannot become new contamination errors.</a:t>
            </a:r>
          </a:p>
          <a:p>
            <a:pPr/>
          </a:p>
          <a:p>
            <a:pPr/>
            <a:r>
              <a:t>Sources and disclosures:</a:t>
            </a:r>
          </a:p>
          <a:p>
            <a:pPr/>
            <a:r>
              <a:t>reports/panda_clean_baseline_23055022.json, calibration/benign_cancer/top5pct. Rows truth, columns prediction.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Shape 227"/>
          <p:cNvSpPr/>
          <p:nvPr>
            <p:ph type="sldImg"/>
          </p:nvPr>
        </p:nvSpPr>
        <p:spPr>
          <a:prstGeom prst="rect">
            <a:avLst/>
          </a:prstGeom>
        </p:spPr>
        <p:txBody>
          <a:bodyPr/>
          <a:lstStyle/>
          <a:p>
            <a:pPr/>
          </a:p>
        </p:txBody>
      </p:sp>
      <p:sp>
        <p:nvSpPr>
          <p:cNvPr id="228" name="Shape 228"/>
          <p:cNvSpPr/>
          <p:nvPr>
            <p:ph type="body" sz="quarter" idx="1"/>
          </p:nvPr>
        </p:nvSpPr>
        <p:spPr>
          <a:prstGeom prst="rect">
            <a:avLst/>
          </a:prstGeom>
        </p:spPr>
        <p:txBody>
          <a:bodyPr/>
          <a:lstStyle/>
          <a:p>
            <a:pPr/>
            <a:r>
              <a:t>S1 inserts connected, annotated cancer-positive donor features into benign hosts at six doses. We use thirty-two host slides and twenty-one reused donor slides. Dose means donor tiles divided by original host tiles, rounded up. A new error conflicts with the original host label. The mixture truly contains donor cancer, so this does not prove misrecognition of its pixels.</a:t>
            </a:r>
          </a:p>
          <a:p>
            <a:pPr/>
          </a:p>
          <a:p>
            <a:pPr/>
            <a:r>
              <a:t>Sources and disclosures:</a:t>
            </a:r>
          </a:p>
          <a:p>
            <a:pPr/>
            <a:r>
              <a:t>reports/panda_s1_summary_23065666.json; reports/panda_s1_donor_audit_23065666.json; frozen protocol configs/panda_s1_development_v1.json.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Shape 241"/>
          <p:cNvSpPr/>
          <p:nvPr>
            <p:ph type="sldImg"/>
          </p:nvPr>
        </p:nvSpPr>
        <p:spPr>
          <a:prstGeom prst="rect">
            <a:avLst/>
          </a:prstGeom>
        </p:spPr>
        <p:txBody>
          <a:bodyPr/>
          <a:lstStyle/>
          <a:p>
            <a:pPr/>
          </a:p>
        </p:txBody>
      </p:sp>
      <p:sp>
        <p:nvSpPr>
          <p:cNvPr id="242" name="Shape 242"/>
          <p:cNvSpPr/>
          <p:nvPr>
            <p:ph type="body" sz="quarter" idx="1"/>
          </p:nvPr>
        </p:nvSpPr>
        <p:spPr>
          <a:prstGeom prst="rect">
            <a:avLst/>
          </a:prstGeom>
        </p:spPr>
        <p:txBody>
          <a:bodyPr/>
          <a:lstStyle/>
          <a:p>
            <a:pPr/>
            <a:r>
              <a:t>Pooling changes sensitivity. For our primary top-five-percent scorer, positive-dose new errors are one, one, two, two and two out of five originally correct calibration hosts. These are eight error instances involving two unique hosts, rather than eight patients. Every original S1 trial passes exact oracle restoration. That validates pipeline integrity, not detector performance.</a:t>
            </a:r>
          </a:p>
          <a:p>
            <a:pPr/>
          </a:p>
          <a:p>
            <a:pPr/>
            <a:r>
              <a:t>Sources and disclosures:</a:t>
            </a:r>
          </a:p>
          <a:p>
            <a:pPr/>
            <a:r>
              <a:t>Editable chart transcribes calibration prediction_changes/hosts from reports/panda_s1_summary_23065666.json. Original figure: reports/figures/panda_s1_development_23065666/stress_curves.png. Induced-error denominators: reports/panda_scientific_audit_v1.json.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Shape 251"/>
          <p:cNvSpPr/>
          <p:nvPr>
            <p:ph type="sldImg"/>
          </p:nvPr>
        </p:nvSpPr>
        <p:spPr>
          <a:prstGeom prst="rect">
            <a:avLst/>
          </a:prstGeom>
        </p:spPr>
        <p:txBody>
          <a:bodyPr/>
          <a:lstStyle/>
          <a:p>
            <a:pPr/>
          </a:p>
        </p:txBody>
      </p:sp>
      <p:sp>
        <p:nvSpPr>
          <p:cNvPr id="252" name="Shape 252"/>
          <p:cNvSpPr/>
          <p:nvPr>
            <p:ph type="body" sz="quarter" idx="1"/>
          </p:nvPr>
        </p:nvSpPr>
        <p:spPr>
          <a:prstGeom prst="rect">
            <a:avLst/>
          </a:prstGeom>
        </p:spPr>
        <p:txBody>
          <a:bodyPr/>
          <a:lstStyle/>
          <a:p>
            <a:pPr/>
            <a:r>
              <a:t>This known synthetic insertion contains three cancer-positive donor tiles in a four-hundred-twenty-eight-tile host. Excluding the red-outlined fragment changes cancer back to benign. The measured footprint is zero-point-zero-three-seven-five square millimeters. This plot shows saved coordinates, not natural contamination or a microscopy composite.</a:t>
            </a:r>
          </a:p>
          <a:p>
            <a:pPr/>
          </a:p>
          <a:p>
            <a:pPr/>
            <a:r>
              <a:t>Sources and disclosures:</a:t>
            </a:r>
          </a:p>
          <a:p>
            <a:pPr/>
            <a:r>
              <a:t>reports/panda_piece_synthetic_foreign_example_23065744.json; original right two panels from reports/figures/panda_piece_development_23065744/piece_examples.png. Crop hashes/coordinates: media/provenance.json.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Shape 261"/>
          <p:cNvSpPr/>
          <p:nvPr>
            <p:ph type="sldImg"/>
          </p:nvPr>
        </p:nvSpPr>
        <p:spPr>
          <a:prstGeom prst="rect">
            <a:avLst/>
          </a:prstGeom>
        </p:spPr>
        <p:txBody>
          <a:bodyPr/>
          <a:lstStyle/>
          <a:p>
            <a:pPr/>
          </a:p>
        </p:txBody>
      </p:sp>
      <p:sp>
        <p:nvSpPr>
          <p:cNvPr id="262" name="Shape 262"/>
          <p:cNvSpPr/>
          <p:nvPr>
            <p:ph type="body" sz="quarter" idx="1"/>
          </p:nvPr>
        </p:nvSpPr>
        <p:spPr>
          <a:prstGeom prst="rect">
            <a:avLst/>
          </a:prstGeom>
        </p:spPr>
        <p:txBody>
          <a:bodyPr/>
          <a:lstStyle/>
          <a:p>
            <a:pPr/>
            <a:r>
              <a:t>The genuine-cancer counterexample produces the same decision change. Excluding this unmodified four-hundred-thirty-five-tile component changes cancer to benign. It contains zero-point-one-seven-one square millimeters of native cancer annotation inside a five-point-four-three-nine-square-millimeter sampled footprint. The component is not a tiny tumor focus or a confirmed whole piece. Influence alone cannot establish foreignness.</a:t>
            </a:r>
          </a:p>
          <a:p>
            <a:pPr/>
          </a:p>
          <a:p>
            <a:pPr/>
            <a:r>
              <a:t>Sources and disclosures:</a:t>
            </a:r>
          </a:p>
          <a:p>
            <a:pPr/>
            <a:r>
              <a:t>reports/panda_piece_genuine_cancer_example_23065744.json; original left two panels from reports/figures/panda_piece_development_23065744/piece_examples.png. Native-cancer colorbar 0–1 is omitted from crop, red shading identified explicitly. media/provenance.json.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Shape 272"/>
          <p:cNvSpPr/>
          <p:nvPr>
            <p:ph type="sldImg"/>
          </p:nvPr>
        </p:nvSpPr>
        <p:spPr>
          <a:prstGeom prst="rect">
            <a:avLst/>
          </a:prstGeom>
        </p:spPr>
        <p:txBody>
          <a:bodyPr/>
          <a:lstStyle/>
          <a:p>
            <a:pPr/>
          </a:p>
        </p:txBody>
      </p:sp>
      <p:sp>
        <p:nvSpPr>
          <p:cNvPr id="273" name="Shape 273"/>
          <p:cNvSpPr/>
          <p:nvPr>
            <p:ph type="body" sz="quarter" idx="1"/>
          </p:nvPr>
        </p:nvSpPr>
        <p:spPr>
          <a:prstGeom prst="rect">
            <a:avLst/>
          </a:prstGeom>
        </p:spPr>
        <p:txBody>
          <a:bodyPr/>
          <a:lstStyle/>
          <a:p>
            <a:pPr/>
            <a:r>
              <a:t>Sparse sampled cells can misrepresent physical pieces. We use observed RGB foreground at pyramid factor sixteen without filling gaps. This worst-mapping training example maps only seventy-six percent of tiles, so review abstains. Four of six formerly single-component calibration cases become multiple components. RGB boundaries remain proxies and empty exclusions stay unevaluable.</a:t>
            </a:r>
          </a:p>
          <a:p>
            <a:pPr/>
          </a:p>
          <a:p>
            <a:pPr/>
            <a:r>
              <a:t>Sources and disclosures:</a:t>
            </a:r>
          </a:p>
          <a:p>
            <a:pPr/>
            <a:r>
              <a:t>Actual training RGB overview and foreground edge output for3c685ed0f92e30f6ffeb5cea7cef5994, selected by lowest training mapping, not classification outcomes. reports/panda_topology_qa_v1/provenance.json. Mapping76/100; observedRGB15components vs sampled4; no pathologist-confirmed boundaries.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Shape 281"/>
          <p:cNvSpPr/>
          <p:nvPr>
            <p:ph type="sldImg"/>
          </p:nvPr>
        </p:nvSpPr>
        <p:spPr>
          <a:prstGeom prst="rect">
            <a:avLst/>
          </a:prstGeom>
        </p:spPr>
        <p:txBody>
          <a:bodyPr/>
          <a:lstStyle/>
          <a:p>
            <a:pPr/>
          </a:p>
        </p:txBody>
      </p:sp>
      <p:sp>
        <p:nvSpPr>
          <p:cNvPr id="282" name="Shape 282"/>
          <p:cNvSpPr/>
          <p:nvPr>
            <p:ph type="body" sz="quarter" idx="1"/>
          </p:nvPr>
        </p:nvSpPr>
        <p:spPr>
          <a:prstGeom prst="rect">
            <a:avLst/>
          </a:prstGeom>
        </p:spPr>
        <p:txBody>
          <a:bodyPr/>
          <a:lstStyle/>
          <a:p>
            <a:pPr/>
            <a:r>
              <a:t>The detector comparison reveals a burden tradeoff. Spatial rules hit thirty-two of forty fragments but alert on nineteen of twenty-four clean slides. Decision dependence hits eight fragments and recovers eight induced-error instances, but alerts on four clean slides. Hypothetical filtering damages three of twenty initially correct clean predictions and flags a genuine cancer component.</a:t>
            </a:r>
          </a:p>
          <a:p>
            <a:pPr/>
          </a:p>
          <a:p>
            <a:pPr/>
            <a:r>
              <a:t>Sources and disclosures:</a:t>
            </a:r>
          </a:p>
          <a:p>
            <a:pPr/>
            <a:r>
              <a:t>reports/panda_review_selection_v1.json, comparison calibration. 40 correlated positive-dose mixtures, 24 clean slides, 26 evaluable annotated native-cancer components. Filtering is hypothetical only.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1" name="Shape 291"/>
          <p:cNvSpPr/>
          <p:nvPr>
            <p:ph type="sldImg"/>
          </p:nvPr>
        </p:nvSpPr>
        <p:spPr>
          <a:prstGeom prst="rect">
            <a:avLst/>
          </a:prstGeom>
        </p:spPr>
        <p:txBody>
          <a:bodyPr/>
          <a:lstStyle/>
          <a:p>
            <a:pPr/>
          </a:p>
        </p:txBody>
      </p:sp>
      <p:sp>
        <p:nvSpPr>
          <p:cNvPr id="292" name="Shape 292"/>
          <p:cNvSpPr/>
          <p:nvPr>
            <p:ph type="body" sz="quarter" idx="1"/>
          </p:nvPr>
        </p:nvSpPr>
        <p:spPr>
          <a:prstGeom prst="rect">
            <a:avLst/>
          </a:prstGeom>
        </p:spPr>
        <p:txBody>
          <a:bodyPr/>
          <a:lstStyle/>
          <a:p>
            <a:pPr/>
            <a:r>
              <a:t>The combined policy misses every calibration fragment. Five mixtures pass its visual criterion, but none also passes influence. Those five mixtures are nested doses from one host. No useful candidate emerges among eighty-one preregistered rules. Zero clean alerts cannot rescue zero recall. We froze the rejection and blocked its final-test job.</a:t>
            </a:r>
          </a:p>
          <a:p>
            <a:pPr/>
          </a:p>
          <a:p>
            <a:pPr/>
            <a:r>
              <a:t>Sources and disclosures:</a:t>
            </a:r>
          </a:p>
          <a:p>
            <a:pPr/>
            <a:r>
              <a:t>reports/panda_review_diagnostics_v1.json; reports/panda_review_selection_v1.json; configs/panda_frozen_protocol_v1.json unchanged. Budgets: ≤10% clean-slide alerts, ≤0.5 components/slide. Utility: ≥20% fragment recall, ≥25% induced-error recovery. Five visually qualifying mixtures are five nested doses from one calibration host, not five independent hosts. reports/panda_review_v2_results.md.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0" name="Shape 300"/>
          <p:cNvSpPr/>
          <p:nvPr>
            <p:ph type="sldImg"/>
          </p:nvPr>
        </p:nvSpPr>
        <p:spPr>
          <a:prstGeom prst="rect">
            <a:avLst/>
          </a:prstGeom>
        </p:spPr>
        <p:txBody>
          <a:bodyPr/>
          <a:lstStyle/>
          <a:p>
            <a:pPr/>
          </a:p>
        </p:txBody>
      </p:sp>
      <p:sp>
        <p:nvSpPr>
          <p:cNvPr id="301" name="Shape 301"/>
          <p:cNvSpPr/>
          <p:nvPr>
            <p:ph type="body" sz="quarter" idx="1"/>
          </p:nvPr>
        </p:nvSpPr>
        <p:spPr>
          <a:prstGeom prst="rect">
            <a:avLst/>
          </a:prstGeom>
        </p:spPr>
        <p:txBody>
          <a:bodyPr/>
          <a:lstStyle/>
          <a:p>
            <a:pPr/>
            <a:r>
              <a:t>S2 now tests low-versus-high predictions using pattern-four-or-five donor material and same-grade controls. We chose mean pooling before stress outcomes. Its clean calibration baseline gets all eight low-grade slides correct, but only four of eight high-grade slides. That limited sensitivity remains explicit. All seven hundred sixty trial records pass exact oracle restoration.</a:t>
            </a:r>
          </a:p>
          <a:p>
            <a:pPr/>
          </a:p>
          <a:p>
            <a:pPr/>
            <a:r>
              <a:t>Sources and disclosures:</a:t>
            </a:r>
          </a:p>
          <a:p>
            <a:pPr/>
            <a:r>
              <a:t>Verified CPU Slurm job 23067396; source35e0a8dae57e22808420b45ae040fc2f8c3710a5. reports/panda_s2_results_v1.md; reports/panda_s2_development_v1/clean_audit.json; summary.json; completion.json.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1" name="Shape 311"/>
          <p:cNvSpPr/>
          <p:nvPr>
            <p:ph type="sldImg"/>
          </p:nvPr>
        </p:nvSpPr>
        <p:spPr>
          <a:prstGeom prst="rect">
            <a:avLst/>
          </a:prstGeom>
        </p:spPr>
        <p:txBody>
          <a:bodyPr/>
          <a:lstStyle/>
          <a:p>
            <a:pPr/>
          </a:p>
        </p:txBody>
      </p:sp>
      <p:sp>
        <p:nvSpPr>
          <p:cNvPr id="312" name="Shape 312"/>
          <p:cNvSpPr/>
          <p:nvPr>
            <p:ph type="body" sz="quarter" idx="1"/>
          </p:nvPr>
        </p:nvSpPr>
        <p:spPr>
          <a:prstGeom prst="rect">
            <a:avLst/>
          </a:prstGeom>
        </p:spPr>
        <p:txBody>
          <a:bodyPr/>
          <a:lstStyle/>
          <a:p>
            <a:pPr/>
            <a:r>
              <a:t>The primary S2 result is negative: zero of eight new calibration errors at every tested requested dose. Training has one of twenty-two at ten percent. Secondary top pooling flips two of two or three of three correct hosts, but misclassifies most clean low-grade slides. Same-grade tissue also causes a flip. Eight pattern-five cases lack capacity. These are binary engineering endpoints, not clinical upgrades.</a:t>
            </a:r>
          </a:p>
          <a:p>
            <a:pPr/>
          </a:p>
          <a:p>
            <a:pPr/>
            <a:r>
              <a:t>Sources and disclosures:</a:t>
            </a:r>
          </a:p>
          <a:p>
            <a:pPr/>
            <a:r>
              <a:t>reports/panda_s2_results_v1.md; reports/panda_s2_development_v1/analysis.json. Figure upper-right crop from reports/figures/panda_s2_development_23067396/s2_development.png. Per-dose denominator = unique originally correct low-grade hosts. GP5 at10% unavailable, not0error.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Shape 320"/>
          <p:cNvSpPr/>
          <p:nvPr>
            <p:ph type="sldImg"/>
          </p:nvPr>
        </p:nvSpPr>
        <p:spPr>
          <a:prstGeom prst="rect">
            <a:avLst/>
          </a:prstGeom>
        </p:spPr>
        <p:txBody>
          <a:bodyPr/>
          <a:lstStyle/>
          <a:p>
            <a:pPr/>
          </a:p>
        </p:txBody>
      </p:sp>
      <p:sp>
        <p:nvSpPr>
          <p:cNvPr id="321" name="Shape 321"/>
          <p:cNvSpPr/>
          <p:nvPr>
            <p:ph type="body" sz="quarter" idx="1"/>
          </p:nvPr>
        </p:nvSpPr>
        <p:spPr>
          <a:prstGeom prst="rect">
            <a:avLst/>
          </a:prstGeom>
        </p:spPr>
        <p:txBody>
          <a:bodyPr/>
          <a:lstStyle/>
          <a:p>
            <a:pPr/>
            <a:r>
              <a:t>Version two tests ranked review instead of requiring every signal to pass a strict conjunction. Training selects thresholds and review caps. Visual, influence and geometry features enter the ranking. Injection truth, donor identity and native annotation remain evaluation-only. Previously seen calibration outcomes make this iterative development, not independent validation.</a:t>
            </a:r>
          </a:p>
          <a:p>
            <a:pPr/>
          </a:p>
          <a:p>
            <a:pPr/>
            <a:r>
              <a:t>Sources and disclosures:</a:t>
            </a:r>
          </a:p>
          <a:p>
            <a:pPr/>
            <a:r>
              <a:t>Verified CPU job23067454; source668d9b8c4e3e8aa300bda6ff15e416c601c2e024. configs/panda_review_development_v2.json; reports/panda_review_v2_results.json. No model training/test-derived normalization.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8" name="Shape 328"/>
          <p:cNvSpPr/>
          <p:nvPr>
            <p:ph type="sldImg"/>
          </p:nvPr>
        </p:nvSpPr>
        <p:spPr>
          <a:prstGeom prst="rect">
            <a:avLst/>
          </a:prstGeom>
        </p:spPr>
        <p:txBody>
          <a:bodyPr/>
          <a:lstStyle/>
          <a:p>
            <a:pPr/>
          </a:p>
        </p:txBody>
      </p:sp>
      <p:sp>
        <p:nvSpPr>
          <p:cNvPr id="329" name="Shape 329"/>
          <p:cNvSpPr/>
          <p:nvPr>
            <p:ph type="body" sz="quarter" idx="1"/>
          </p:nvPr>
        </p:nvSpPr>
        <p:spPr>
          <a:prstGeom prst="rect">
            <a:avLst/>
          </a:prstGeom>
        </p:spPr>
        <p:txBody>
          <a:bodyPr/>
          <a:lstStyle/>
          <a:p>
            <a:pPr/>
            <a:r>
              <a:t>The selected rank detects twenty-two of one hundred twenty training fragments, but zero of forty on known calibration. Its one clean calibration alert contains native cancer. An unbudgeted ranking hits twenty-one fragments but alerts on every clean slide and flags fourteen native cancer components. That exceeds the burden targets. We found no useful validated improvement over version one.</a:t>
            </a:r>
          </a:p>
          <a:p>
            <a:pPr/>
          </a:p>
          <a:p>
            <a:pPr/>
            <a:r>
              <a:t>Sources and disclosures:</a:t>
            </a:r>
          </a:p>
          <a:p>
            <a:pPr/>
            <a:r>
              <a:t>reports/panda_review_v2_results.json; reports/panda_review_v2_results.md; selected primary combined_rank and unbudgeted reference visual_relevance_rank, known calibration. Source668d9b8c4e3e8aa300bda6ff15e416c601c2e024; job23067454. Calibration is iterative development. No tissue removed.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8" name="Shape 338"/>
          <p:cNvSpPr/>
          <p:nvPr>
            <p:ph type="sldImg"/>
          </p:nvPr>
        </p:nvSpPr>
        <p:spPr>
          <a:prstGeom prst="rect">
            <a:avLst/>
          </a:prstGeom>
        </p:spPr>
        <p:txBody>
          <a:bodyPr/>
          <a:lstStyle/>
          <a:p>
            <a:pPr/>
          </a:p>
        </p:txBody>
      </p:sp>
      <p:sp>
        <p:nvSpPr>
          <p:cNvPr id="339" name="Shape 339"/>
          <p:cNvSpPr/>
          <p:nvPr>
            <p:ph type="body" sz="quarter" idx="1"/>
          </p:nvPr>
        </p:nvSpPr>
        <p:spPr>
          <a:prstGeom prst="rect">
            <a:avLst/>
          </a:prstGeom>
        </p:spPr>
        <p:txBody>
          <a:bodyPr/>
          <a:lstStyle/>
          <a:p>
            <a:pPr/>
            <a:r>
              <a:t>We demonstrate a verified pipeline, S1 sensitivity, a negative primary S2 result and two rejected review policies. We do not establish natural-floater detection or clinical usefulness. Reused donors, unknown patient overlap and representative sampling limit inference. Artificial edge placement also simplifies geometry. The twenty-four final slides remain unscored.</a:t>
            </a:r>
          </a:p>
          <a:p>
            <a:pPr/>
          </a:p>
          <a:p>
            <a:pPr/>
            <a:r>
              <a:t>Sources and disclosures:</a:t>
            </a:r>
          </a:p>
          <a:p>
            <a:pPr/>
            <a:r>
              <a:t>All numerical claims refer to training/calibration only. reports/panda_scientific_audit_v1.md; reports/panda_review_results_v1.md.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7" name="Shape 347"/>
          <p:cNvSpPr/>
          <p:nvPr>
            <p:ph type="sldImg"/>
          </p:nvPr>
        </p:nvSpPr>
        <p:spPr>
          <a:prstGeom prst="rect">
            <a:avLst/>
          </a:prstGeom>
        </p:spPr>
        <p:txBody>
          <a:bodyPr/>
          <a:lstStyle/>
          <a:p>
            <a:pPr/>
          </a:p>
        </p:txBody>
      </p:sp>
      <p:sp>
        <p:nvSpPr>
          <p:cNvPr id="348" name="Shape 348"/>
          <p:cNvSpPr/>
          <p:nvPr>
            <p:ph type="body" sz="quarter" idx="1"/>
          </p:nvPr>
        </p:nvSpPr>
        <p:spPr>
          <a:prstGeom prst="rect">
            <a:avLst/>
          </a:prstGeom>
        </p:spPr>
        <p:txBody>
          <a:bodyPr/>
          <a:lstStyle/>
          <a:p>
            <a:pPr/>
            <a:r>
              <a:t>Next research needs useful review that preserves native cancer, followed by external institutional and model testing. New resources need separate approval. Any final evaluation requires a scientifically useful, newly frozen protocol and explicit authorization. Original tissue remains intact.</a:t>
            </a:r>
          </a:p>
          <a:p>
            <a:pPr/>
          </a:p>
          <a:p>
            <a:pPr/>
            <a:r>
              <a:t>Sources and disclosures:</a:t>
            </a:r>
          </a:p>
          <a:p>
            <a:pPr/>
            <a:r>
              <a:t>Final preparation verified by CPU preflight job 23066843. No final job submitted. Versioned readiness and command: docs/panda_final_test_v1.md.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7" name="Shape 357"/>
          <p:cNvSpPr/>
          <p:nvPr>
            <p:ph type="sldImg"/>
          </p:nvPr>
        </p:nvSpPr>
        <p:spPr>
          <a:prstGeom prst="rect">
            <a:avLst/>
          </a:prstGeom>
        </p:spPr>
        <p:txBody>
          <a:bodyPr/>
          <a:lstStyle/>
          <a:p>
            <a:pPr/>
          </a:p>
        </p:txBody>
      </p:sp>
      <p:sp>
        <p:nvSpPr>
          <p:cNvPr id="358" name="Shape 358"/>
          <p:cNvSpPr/>
          <p:nvPr>
            <p:ph type="body" sz="quarter" idx="1"/>
          </p:nvPr>
        </p:nvSpPr>
        <p:spPr>
          <a:prstGeom prst="rect">
            <a:avLst/>
          </a:prstGeom>
        </p:spPr>
        <p:txBody>
          <a:bodyPr/>
          <a:lstStyle/>
          <a:p>
            <a:pPr/>
            <a:r>
              <a:t>Reference slide for questions. Sources, media provenance and version hashes accompany the submission. No final-test prediction appears in the deck.</a:t>
            </a:r>
          </a:p>
          <a:p>
            <a:pPr/>
          </a:p>
          <a:p>
            <a:pPr/>
            <a:r>
              <a:t>Sources and disclosures:</a:t>
            </a:r>
          </a:p>
          <a:p>
            <a:pPr/>
            <a:r>
              <a:t>Lu et al., Nature Medicine 2024, https://doi.org/10.1038/s41591-024-02856-4</a:t>
            </a:r>
          </a:p>
          <a:p>
            <a:pPr/>
            <a:r>
              <a:t>Bulten et al., Nature Medicine 2022, https://doi.org/10.1038/s41591-021-01620-2</a:t>
            </a:r>
          </a:p>
          <a:p>
            <a:pPr/>
            <a:r>
              <a:t>Sapp et al., ACG Case Reports Journal 2021, https://doi.org/10.14309/crj.0000000000000583</a:t>
            </a:r>
          </a:p>
          <a:p>
            <a:pPr/>
            <a:r>
              <a:t>S2: reports/panda_s2_results_v1.md. v2: reports/panda_review_v2_results.json. Sources/hashes in media_manifest.json.</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3243262" y="6795050"/>
            <a:ext cx="9764891" cy="283102"/>
          </a:xfrm>
          <a:prstGeom prst="rect">
            <a:avLst/>
          </a:prstGeom>
        </p:spPr>
        <p:txBody>
          <a:bodyPr lIns="20319" tIns="20319" rIns="20319" bIns="20319"/>
          <a:lstStyle>
            <a:lvl1pPr defTabSz="368723">
              <a:defRPr sz="1608"/>
            </a:lvl1pPr>
          </a:lstStyle>
          <a:p>
            <a:pPr/>
            <a:r>
              <a:t>Author and Date</a:t>
            </a:r>
          </a:p>
        </p:txBody>
      </p:sp>
      <p:sp>
        <p:nvSpPr>
          <p:cNvPr id="12" name="Presentation Title"/>
          <p:cNvSpPr txBox="1"/>
          <p:nvPr>
            <p:ph type="title" hasCustomPrompt="1"/>
          </p:nvPr>
        </p:nvSpPr>
        <p:spPr>
          <a:prstGeom prst="rect">
            <a:avLst/>
          </a:prstGeom>
        </p:spPr>
        <p:txBody>
          <a:bodyPr/>
          <a:lstStyle/>
          <a:p>
            <a:pPr/>
            <a:r>
              <a:t>Presentation Title</a:t>
            </a:r>
          </a:p>
        </p:txBody>
      </p:sp>
      <p:sp>
        <p:nvSpPr>
          <p:cNvPr id="13" name="Body Level One…"/>
          <p:cNvSpPr txBox="1"/>
          <p:nvPr>
            <p:ph type="body" sz="quarter" idx="1" hasCustomPrompt="1"/>
          </p:nvPr>
        </p:nvSpPr>
        <p:spPr>
          <a:prstGeom prst="rect">
            <a:avLst/>
          </a:prstGeom>
        </p:spPr>
        <p:txBody>
          <a:body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2195688" y="948266"/>
            <a:ext cx="11887202" cy="7119527"/>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3245555" y="4690533"/>
            <a:ext cx="9764890" cy="2065868"/>
          </a:xfrm>
          <a:prstGeom prst="rect">
            <a:avLst/>
          </a:prstGeom>
        </p:spPr>
        <p:txBody>
          <a:bodyPr/>
          <a:lstStyle/>
          <a:p>
            <a:pPr/>
            <a:r>
              <a:t>Presentation Title</a:t>
            </a:r>
          </a:p>
        </p:txBody>
      </p:sp>
      <p:sp>
        <p:nvSpPr>
          <p:cNvPr id="23" name="Author and Date"/>
          <p:cNvSpPr txBox="1"/>
          <p:nvPr>
            <p:ph type="body" sz="quarter" idx="22" hasCustomPrompt="1"/>
          </p:nvPr>
        </p:nvSpPr>
        <p:spPr>
          <a:xfrm>
            <a:off x="3246084" y="2015616"/>
            <a:ext cx="9763833" cy="283103"/>
          </a:xfrm>
          <a:prstGeom prst="rect">
            <a:avLst/>
          </a:prstGeom>
        </p:spPr>
        <p:txBody>
          <a:bodyPr lIns="20319" tIns="20319" rIns="20319" bIns="20319"/>
          <a:lstStyle>
            <a:lvl1pPr defTabSz="368723">
              <a:defRPr sz="1608"/>
            </a:lvl1pPr>
          </a:lstStyle>
          <a:p>
            <a:pPr/>
            <a:r>
              <a:t>Author and Date</a:t>
            </a:r>
          </a:p>
        </p:txBody>
      </p:sp>
      <p:sp>
        <p:nvSpPr>
          <p:cNvPr id="24" name="Body Level One…"/>
          <p:cNvSpPr txBox="1"/>
          <p:nvPr>
            <p:ph type="body" sz="quarter" idx="1" hasCustomPrompt="1"/>
          </p:nvPr>
        </p:nvSpPr>
        <p:spPr>
          <a:xfrm>
            <a:off x="3245555" y="6683960"/>
            <a:ext cx="9764890" cy="496423"/>
          </a:xfrm>
          <a:prstGeom prst="rect">
            <a:avLst/>
          </a:prstGeom>
        </p:spPr>
        <p:txBody>
          <a:body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p:cNvSpPr/>
          <p:nvPr>
            <p:ph type="pic" sz="half" idx="21"/>
          </p:nvPr>
        </p:nvSpPr>
        <p:spPr>
          <a:xfrm>
            <a:off x="7586133" y="1433688"/>
            <a:ext cx="5397706" cy="6282268"/>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3245555" y="2088444"/>
            <a:ext cx="4346223" cy="2614344"/>
          </a:xfrm>
          <a:prstGeom prst="rect">
            <a:avLst/>
          </a:prstGeom>
        </p:spPr>
        <p:txBody>
          <a:bodyPr/>
          <a:lstStyle>
            <a:lvl1pPr>
              <a:defRPr spc="-112" sz="5600"/>
            </a:lvl1pPr>
          </a:lstStyle>
          <a:p>
            <a:pPr/>
            <a:r>
              <a:t>Slide Title</a:t>
            </a:r>
          </a:p>
        </p:txBody>
      </p:sp>
      <p:sp>
        <p:nvSpPr>
          <p:cNvPr id="34" name="Body Level One…"/>
          <p:cNvSpPr txBox="1"/>
          <p:nvPr>
            <p:ph type="body" sz="quarter" idx="1" hasCustomPrompt="1"/>
          </p:nvPr>
        </p:nvSpPr>
        <p:spPr>
          <a:xfrm>
            <a:off x="3245555" y="4662034"/>
            <a:ext cx="4346223" cy="2393522"/>
          </a:xfrm>
          <a:prstGeom prst="rect">
            <a:avLst/>
          </a:prstGeom>
        </p:spPr>
        <p:txBody>
          <a:body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8011560" y="7287459"/>
            <a:ext cx="227326" cy="21869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xfrm>
            <a:off x="3245555" y="2003777"/>
            <a:ext cx="9764890" cy="636962"/>
          </a:xfrm>
          <a:prstGeom prst="rect">
            <a:avLst/>
          </a:prstGeom>
        </p:spPr>
        <p:txBody>
          <a:bodyPr anchor="t"/>
          <a:lstStyle>
            <a:lvl1pPr>
              <a:defRPr spc="-112" sz="5600"/>
            </a:lvl1pPr>
          </a:lstStyle>
          <a:p>
            <a:pPr/>
            <a:r>
              <a:t>Slide Title</a:t>
            </a:r>
          </a:p>
        </p:txBody>
      </p:sp>
      <p:sp>
        <p:nvSpPr>
          <p:cNvPr id="43" name="Slide Subtitle"/>
          <p:cNvSpPr txBox="1"/>
          <p:nvPr>
            <p:ph type="body" sz="quarter" idx="21" hasCustomPrompt="1"/>
          </p:nvPr>
        </p:nvSpPr>
        <p:spPr>
          <a:xfrm>
            <a:off x="3245555" y="2578649"/>
            <a:ext cx="9764890" cy="415459"/>
          </a:xfrm>
          <a:prstGeom prst="rect">
            <a:avLst/>
          </a:prstGeom>
        </p:spPr>
        <p:txBody>
          <a:bodyPr lIns="20319" tIns="20319" rIns="20319" bIns="20319"/>
          <a:lstStyle>
            <a:lvl1pPr defTabSz="385233">
              <a:defRPr sz="2520"/>
            </a:lvl1pPr>
          </a:lstStyle>
          <a:p>
            <a:pPr/>
            <a:r>
              <a:t>Slide Subtitle</a:t>
            </a:r>
          </a:p>
        </p:txBody>
      </p:sp>
      <p:sp>
        <p:nvSpPr>
          <p:cNvPr id="44" name="Body Level One…"/>
          <p:cNvSpPr txBox="1"/>
          <p:nvPr>
            <p:ph type="body" sz="half" idx="1" hasCustomPrompt="1"/>
          </p:nvPr>
        </p:nvSpPr>
        <p:spPr>
          <a:xfrm>
            <a:off x="3245555" y="3412224"/>
            <a:ext cx="9764890" cy="3669339"/>
          </a:xfrm>
          <a:prstGeom prst="rect">
            <a:avLst/>
          </a:prstGeom>
        </p:spPr>
        <p:txBody>
          <a:bodyPr/>
          <a:lstStyle>
            <a:lvl1pPr marL="406400" indent="-406400" defTabSz="1625559">
              <a:lnSpc>
                <a:spcPct val="90000"/>
              </a:lnSpc>
              <a:spcBef>
                <a:spcPts val="3000"/>
              </a:spcBef>
              <a:buSzPct val="123000"/>
              <a:buChar char="•"/>
              <a:defRPr b="0" sz="3200"/>
            </a:lvl1pPr>
            <a:lvl2pPr marL="1016000" indent="-406400" defTabSz="1625559">
              <a:lnSpc>
                <a:spcPct val="90000"/>
              </a:lnSpc>
              <a:spcBef>
                <a:spcPts val="3000"/>
              </a:spcBef>
              <a:buSzPct val="123000"/>
              <a:buChar char="•"/>
              <a:defRPr b="0" sz="3200"/>
            </a:lvl2pPr>
            <a:lvl3pPr marL="1625600" indent="-406400" defTabSz="1625559">
              <a:lnSpc>
                <a:spcPct val="90000"/>
              </a:lnSpc>
              <a:spcBef>
                <a:spcPts val="3000"/>
              </a:spcBef>
              <a:buSzPct val="123000"/>
              <a:buChar char="•"/>
              <a:defRPr b="0" sz="3200"/>
            </a:lvl3pPr>
            <a:lvl4pPr marL="2235200" indent="-406400" defTabSz="1625559">
              <a:lnSpc>
                <a:spcPct val="90000"/>
              </a:lnSpc>
              <a:spcBef>
                <a:spcPts val="3000"/>
              </a:spcBef>
              <a:buSzPct val="123000"/>
              <a:buChar char="•"/>
              <a:defRPr b="0" sz="3200"/>
            </a:lvl4pPr>
            <a:lvl5pPr marL="2844800" indent="-406400" defTabSz="1625559">
              <a:lnSpc>
                <a:spcPct val="90000"/>
              </a:lnSpc>
              <a:spcBef>
                <a:spcPts val="3000"/>
              </a:spcBef>
              <a:buSzPct val="123000"/>
              <a:buChar char="•"/>
              <a:defRPr b="0" sz="3200"/>
            </a:lvl5p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sz="half" idx="1" hasCustomPrompt="1"/>
          </p:nvPr>
        </p:nvSpPr>
        <p:spPr>
          <a:xfrm>
            <a:off x="3245555" y="3412224"/>
            <a:ext cx="9764890" cy="3669339"/>
          </a:xfrm>
          <a:prstGeom prst="rect">
            <a:avLst/>
          </a:prstGeom>
        </p:spPr>
        <p:txBody>
          <a:bodyPr numCol="2" spcCol="488244"/>
          <a:lstStyle>
            <a:lvl1pPr marL="406400" indent="-406400" defTabSz="1625559">
              <a:lnSpc>
                <a:spcPct val="90000"/>
              </a:lnSpc>
              <a:spcBef>
                <a:spcPts val="3000"/>
              </a:spcBef>
              <a:buSzPct val="123000"/>
              <a:buChar char="•"/>
              <a:defRPr b="0" sz="3200"/>
            </a:lvl1pPr>
            <a:lvl2pPr marL="1016000" indent="-406400" defTabSz="1625559">
              <a:lnSpc>
                <a:spcPct val="90000"/>
              </a:lnSpc>
              <a:spcBef>
                <a:spcPts val="3000"/>
              </a:spcBef>
              <a:buSzPct val="123000"/>
              <a:buChar char="•"/>
              <a:defRPr b="0" sz="3200"/>
            </a:lvl2pPr>
            <a:lvl3pPr marL="1625600" indent="-406400" defTabSz="1625559">
              <a:lnSpc>
                <a:spcPct val="90000"/>
              </a:lnSpc>
              <a:spcBef>
                <a:spcPts val="3000"/>
              </a:spcBef>
              <a:buSzPct val="123000"/>
              <a:buChar char="•"/>
              <a:defRPr b="0" sz="3200"/>
            </a:lvl3pPr>
            <a:lvl4pPr marL="2235200" indent="-406400" defTabSz="1625559">
              <a:lnSpc>
                <a:spcPct val="90000"/>
              </a:lnSpc>
              <a:spcBef>
                <a:spcPts val="3000"/>
              </a:spcBef>
              <a:buSzPct val="123000"/>
              <a:buChar char="•"/>
              <a:defRPr b="0" sz="3200"/>
            </a:lvl4pPr>
            <a:lvl5pPr marL="2844800" indent="-406400" defTabSz="1625559">
              <a:lnSpc>
                <a:spcPct val="90000"/>
              </a:lnSpc>
              <a:spcBef>
                <a:spcPts val="3000"/>
              </a:spcBef>
              <a:buSzPct val="123000"/>
              <a:buChar char="•"/>
              <a:defRPr b="0" sz="3200"/>
            </a:lvl5pPr>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3245555" y="2578649"/>
            <a:ext cx="4346223" cy="415459"/>
          </a:xfrm>
          <a:prstGeom prst="rect">
            <a:avLst/>
          </a:prstGeom>
        </p:spPr>
        <p:txBody>
          <a:bodyPr lIns="20319" tIns="20319" rIns="20319" bIns="20319"/>
          <a:lstStyle>
            <a:lvl1pPr defTabSz="385233">
              <a:defRPr sz="2520"/>
            </a:lvl1pPr>
          </a:lstStyle>
          <a:p>
            <a:pPr/>
            <a:r>
              <a:t>Slide Subtitle</a:t>
            </a:r>
          </a:p>
        </p:txBody>
      </p:sp>
      <p:sp>
        <p:nvSpPr>
          <p:cNvPr id="61" name="Body Level One…"/>
          <p:cNvSpPr txBox="1"/>
          <p:nvPr>
            <p:ph type="body" sz="quarter" idx="1" hasCustomPrompt="1"/>
          </p:nvPr>
        </p:nvSpPr>
        <p:spPr>
          <a:xfrm>
            <a:off x="3245555" y="3412224"/>
            <a:ext cx="4346223" cy="3669614"/>
          </a:xfrm>
          <a:prstGeom prst="rect">
            <a:avLst/>
          </a:prstGeom>
        </p:spPr>
        <p:txBody>
          <a:bodyPr/>
          <a:lstStyle>
            <a:lvl1pPr marL="406400" indent="-406400" defTabSz="1625559">
              <a:lnSpc>
                <a:spcPct val="90000"/>
              </a:lnSpc>
              <a:spcBef>
                <a:spcPts val="3000"/>
              </a:spcBef>
              <a:buSzPct val="123000"/>
              <a:buChar char="•"/>
              <a:defRPr b="0" sz="3200"/>
            </a:lvl1pPr>
            <a:lvl2pPr marL="1016000" indent="-406400" defTabSz="1625559">
              <a:lnSpc>
                <a:spcPct val="90000"/>
              </a:lnSpc>
              <a:spcBef>
                <a:spcPts val="3000"/>
              </a:spcBef>
              <a:buSzPct val="123000"/>
              <a:buChar char="•"/>
              <a:defRPr b="0" sz="3200"/>
            </a:lvl2pPr>
            <a:lvl3pPr marL="1625600" indent="-406400" defTabSz="1625559">
              <a:lnSpc>
                <a:spcPct val="90000"/>
              </a:lnSpc>
              <a:spcBef>
                <a:spcPts val="3000"/>
              </a:spcBef>
              <a:buSzPct val="123000"/>
              <a:buChar char="•"/>
              <a:defRPr b="0" sz="3200"/>
            </a:lvl3pPr>
            <a:lvl4pPr marL="2235200" indent="-406400" defTabSz="1625559">
              <a:lnSpc>
                <a:spcPct val="90000"/>
              </a:lnSpc>
              <a:spcBef>
                <a:spcPts val="3000"/>
              </a:spcBef>
              <a:buSzPct val="123000"/>
              <a:buChar char="•"/>
              <a:defRPr b="0" sz="3200"/>
            </a:lvl4pPr>
            <a:lvl5pPr marL="2844800" indent="-406400" defTabSz="1625559">
              <a:lnSpc>
                <a:spcPct val="90000"/>
              </a:lnSpc>
              <a:spcBef>
                <a:spcPts val="3000"/>
              </a:spcBef>
              <a:buSzPct val="123000"/>
              <a:buChar char="•"/>
              <a:defRPr b="0" sz="3200"/>
            </a:lvl5p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sz="half" idx="22"/>
          </p:nvPr>
        </p:nvSpPr>
        <p:spPr>
          <a:xfrm>
            <a:off x="8128000" y="1342993"/>
            <a:ext cx="4851944" cy="6469259"/>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3245555" y="2003777"/>
            <a:ext cx="4346223" cy="637823"/>
          </a:xfrm>
          <a:prstGeom prst="rect">
            <a:avLst/>
          </a:prstGeom>
        </p:spPr>
        <p:txBody>
          <a:bodyPr anchor="t"/>
          <a:lstStyle>
            <a:lvl1pPr>
              <a:defRPr spc="-112" sz="5600"/>
            </a:lvl1p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3245555" y="2578649"/>
            <a:ext cx="4346223" cy="415459"/>
          </a:xfrm>
          <a:prstGeom prst="rect">
            <a:avLst/>
          </a:prstGeom>
        </p:spPr>
        <p:txBody>
          <a:bodyPr lIns="20319" tIns="20319" rIns="20319" bIns="20319"/>
          <a:lstStyle>
            <a:lvl1pPr defTabSz="385233">
              <a:defRPr sz="2520"/>
            </a:lvl1pPr>
          </a:lstStyle>
          <a:p>
            <a:pPr/>
            <a:r>
              <a:t>Slide Subtitle</a:t>
            </a:r>
          </a:p>
        </p:txBody>
      </p:sp>
      <p:sp>
        <p:nvSpPr>
          <p:cNvPr id="72" name="Body Level One…"/>
          <p:cNvSpPr txBox="1"/>
          <p:nvPr>
            <p:ph type="body" sz="quarter" idx="1" hasCustomPrompt="1"/>
          </p:nvPr>
        </p:nvSpPr>
        <p:spPr>
          <a:xfrm>
            <a:off x="3245555" y="3412224"/>
            <a:ext cx="4346223" cy="3669614"/>
          </a:xfrm>
          <a:prstGeom prst="rect">
            <a:avLst/>
          </a:prstGeom>
        </p:spPr>
        <p:txBody>
          <a:bodyPr/>
          <a:lstStyle>
            <a:lvl1pPr marL="406400" indent="-406400" defTabSz="1625559">
              <a:lnSpc>
                <a:spcPct val="90000"/>
              </a:lnSpc>
              <a:spcBef>
                <a:spcPts val="3000"/>
              </a:spcBef>
              <a:buSzPct val="123000"/>
              <a:buChar char="•"/>
              <a:defRPr b="0" sz="3200"/>
            </a:lvl1pPr>
            <a:lvl2pPr marL="1016000" indent="-406400" defTabSz="1625559">
              <a:lnSpc>
                <a:spcPct val="90000"/>
              </a:lnSpc>
              <a:spcBef>
                <a:spcPts val="3000"/>
              </a:spcBef>
              <a:buSzPct val="123000"/>
              <a:buChar char="•"/>
              <a:defRPr b="0" sz="3200"/>
            </a:lvl2pPr>
            <a:lvl3pPr marL="1625600" indent="-406400" defTabSz="1625559">
              <a:lnSpc>
                <a:spcPct val="90000"/>
              </a:lnSpc>
              <a:spcBef>
                <a:spcPts val="3000"/>
              </a:spcBef>
              <a:buSzPct val="123000"/>
              <a:buChar char="•"/>
              <a:defRPr b="0" sz="3200"/>
            </a:lvl3pPr>
            <a:lvl4pPr marL="2235200" indent="-406400" defTabSz="1625559">
              <a:lnSpc>
                <a:spcPct val="90000"/>
              </a:lnSpc>
              <a:spcBef>
                <a:spcPts val="3000"/>
              </a:spcBef>
              <a:buSzPct val="123000"/>
              <a:buChar char="•"/>
              <a:defRPr b="0" sz="3200"/>
            </a:lvl4pPr>
            <a:lvl5pPr marL="2844800" indent="-406400" defTabSz="1625559">
              <a:lnSpc>
                <a:spcPct val="90000"/>
              </a:lnSpc>
              <a:spcBef>
                <a:spcPts val="3000"/>
              </a:spcBef>
              <a:buSzPct val="123000"/>
              <a:buChar char="•"/>
              <a:defRPr b="0" sz="3200"/>
            </a:lvl5p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3245555" y="2003777"/>
            <a:ext cx="4346223" cy="637823"/>
          </a:xfrm>
          <a:prstGeom prst="rect">
            <a:avLst/>
          </a:prstGeom>
        </p:spPr>
        <p:txBody>
          <a:bodyPr anchor="t"/>
          <a:lstStyle>
            <a:lvl1pPr>
              <a:defRPr spc="-112" sz="5600"/>
            </a:lvl1p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3245555" y="2578649"/>
            <a:ext cx="4346223" cy="415459"/>
          </a:xfrm>
          <a:prstGeom prst="rect">
            <a:avLst/>
          </a:prstGeom>
        </p:spPr>
        <p:txBody>
          <a:bodyPr lIns="20319" tIns="20319" rIns="20319" bIns="20319"/>
          <a:lstStyle>
            <a:lvl1pPr defTabSz="385233">
              <a:defRPr sz="2520"/>
            </a:lvl1pPr>
          </a:lstStyle>
          <a:p>
            <a:pPr/>
            <a:r>
              <a:t>Slide Subtitle</a:t>
            </a:r>
          </a:p>
        </p:txBody>
      </p:sp>
      <p:sp>
        <p:nvSpPr>
          <p:cNvPr id="82" name="Body Level One…"/>
          <p:cNvSpPr txBox="1"/>
          <p:nvPr>
            <p:ph type="body" sz="quarter" idx="1" hasCustomPrompt="1"/>
          </p:nvPr>
        </p:nvSpPr>
        <p:spPr>
          <a:xfrm>
            <a:off x="3245555" y="3412224"/>
            <a:ext cx="4346223" cy="3669614"/>
          </a:xfrm>
          <a:prstGeom prst="rect">
            <a:avLst/>
          </a:prstGeom>
        </p:spPr>
        <p:txBody>
          <a:bodyPr/>
          <a:lstStyle>
            <a:lvl1pPr marL="406400" indent="-406400" defTabSz="1625559">
              <a:lnSpc>
                <a:spcPct val="90000"/>
              </a:lnSpc>
              <a:spcBef>
                <a:spcPts val="3000"/>
              </a:spcBef>
              <a:buSzPct val="123000"/>
              <a:buChar char="•"/>
              <a:defRPr b="0" sz="3200"/>
            </a:lvl1pPr>
            <a:lvl2pPr marL="1016000" indent="-406400" defTabSz="1625559">
              <a:lnSpc>
                <a:spcPct val="90000"/>
              </a:lnSpc>
              <a:spcBef>
                <a:spcPts val="3000"/>
              </a:spcBef>
              <a:buSzPct val="123000"/>
              <a:buChar char="•"/>
              <a:defRPr b="0" sz="3200"/>
            </a:lvl2pPr>
            <a:lvl3pPr marL="1625600" indent="-406400" defTabSz="1625559">
              <a:lnSpc>
                <a:spcPct val="90000"/>
              </a:lnSpc>
              <a:spcBef>
                <a:spcPts val="3000"/>
              </a:spcBef>
              <a:buSzPct val="123000"/>
              <a:buChar char="•"/>
              <a:defRPr b="0" sz="3200"/>
            </a:lvl3pPr>
            <a:lvl4pPr marL="2235200" indent="-406400" defTabSz="1625559">
              <a:lnSpc>
                <a:spcPct val="90000"/>
              </a:lnSpc>
              <a:spcBef>
                <a:spcPts val="3000"/>
              </a:spcBef>
              <a:buSzPct val="123000"/>
              <a:buChar char="•"/>
              <a:defRPr b="0" sz="3200"/>
            </a:lvl4pPr>
            <a:lvl5pPr marL="2844800" indent="-406400" defTabSz="1625559">
              <a:lnSpc>
                <a:spcPct val="90000"/>
              </a:lnSpc>
              <a:spcBef>
                <a:spcPts val="3000"/>
              </a:spcBef>
              <a:buSzPct val="123000"/>
              <a:buChar char="•"/>
              <a:defRPr b="0" sz="3200"/>
            </a:lvl5p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3245555" y="2003777"/>
            <a:ext cx="4346223" cy="637823"/>
          </a:xfrm>
          <a:prstGeom prst="rect">
            <a:avLst/>
          </a:prstGeom>
        </p:spPr>
        <p:txBody>
          <a:bodyPr anchor="t"/>
          <a:lstStyle>
            <a:lvl1pPr>
              <a:defRPr spc="-112" sz="5600"/>
            </a:lvl1p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3245553" y="3539066"/>
            <a:ext cx="9764892" cy="2065868"/>
          </a:xfrm>
          <a:prstGeom prst="rect">
            <a:avLst/>
          </a:prstGeom>
        </p:spPr>
        <p:txBody>
          <a:bodyPr anchor="ctr"/>
          <a:lstStyle>
            <a:lvl1pPr>
              <a:defRPr b="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8011560" y="7287459"/>
            <a:ext cx="227326" cy="21869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3245555" y="2003777"/>
            <a:ext cx="9764890" cy="637756"/>
          </a:xfrm>
          <a:prstGeom prst="rect">
            <a:avLst/>
          </a:prstGeom>
        </p:spPr>
        <p:txBody>
          <a:bodyPr anchor="t"/>
          <a:lstStyle>
            <a:lvl1pPr>
              <a:defRPr spc="-112" sz="5600"/>
            </a:lvl1pPr>
          </a:lstStyle>
          <a:p>
            <a:pPr/>
            <a:r>
              <a:t>Slide Title</a:t>
            </a:r>
          </a:p>
        </p:txBody>
      </p:sp>
      <p:sp>
        <p:nvSpPr>
          <p:cNvPr id="100" name="Slide Subtitle"/>
          <p:cNvSpPr txBox="1"/>
          <p:nvPr>
            <p:ph type="body" sz="quarter" idx="21" hasCustomPrompt="1"/>
          </p:nvPr>
        </p:nvSpPr>
        <p:spPr>
          <a:xfrm>
            <a:off x="3245555" y="2578649"/>
            <a:ext cx="9764890" cy="415459"/>
          </a:xfrm>
          <a:prstGeom prst="rect">
            <a:avLst/>
          </a:prstGeom>
        </p:spPr>
        <p:txBody>
          <a:bodyPr lIns="20319" tIns="20319" rIns="20319" bIns="20319"/>
          <a:lstStyle>
            <a:lvl1pPr defTabSz="385233">
              <a:defRPr sz="252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3245555" y="2003777"/>
            <a:ext cx="9764890" cy="637823"/>
          </a:xfrm>
          <a:prstGeom prst="rect">
            <a:avLst/>
          </a:prstGeom>
        </p:spPr>
        <p:txBody>
          <a:bodyPr anchor="t"/>
          <a:lstStyle>
            <a:lvl1pPr>
              <a:defRPr spc="-112" sz="5600"/>
            </a:lvl1pPr>
          </a:lstStyle>
          <a:p>
            <a:pPr/>
            <a:r>
              <a:t>Agenda Title</a:t>
            </a:r>
          </a:p>
        </p:txBody>
      </p:sp>
      <p:sp>
        <p:nvSpPr>
          <p:cNvPr id="109" name="Agenda Subtitle"/>
          <p:cNvSpPr txBox="1"/>
          <p:nvPr>
            <p:ph type="body" sz="quarter" idx="21" hasCustomPrompt="1"/>
          </p:nvPr>
        </p:nvSpPr>
        <p:spPr>
          <a:xfrm>
            <a:off x="3245555" y="2578649"/>
            <a:ext cx="9764890" cy="415459"/>
          </a:xfrm>
          <a:prstGeom prst="rect">
            <a:avLst/>
          </a:prstGeom>
        </p:spPr>
        <p:txBody>
          <a:bodyPr lIns="20319" tIns="20319" rIns="20319" bIns="20319"/>
          <a:lstStyle>
            <a:lvl1pPr defTabSz="385233">
              <a:defRPr sz="2520"/>
            </a:lvl1pPr>
          </a:lstStyle>
          <a:p>
            <a:pPr/>
            <a:r>
              <a:t>Agenda Subtitle</a:t>
            </a:r>
          </a:p>
        </p:txBody>
      </p:sp>
      <p:sp>
        <p:nvSpPr>
          <p:cNvPr id="110" name="Body Level One…"/>
          <p:cNvSpPr txBox="1"/>
          <p:nvPr>
            <p:ph type="body" sz="half" idx="1" hasCustomPrompt="1"/>
          </p:nvPr>
        </p:nvSpPr>
        <p:spPr>
          <a:xfrm>
            <a:off x="3245555" y="3412224"/>
            <a:ext cx="9764890" cy="3669339"/>
          </a:xfrm>
          <a:prstGeom prst="rect">
            <a:avLst/>
          </a:prstGeom>
        </p:spPr>
        <p:txBody>
          <a:bodyPr/>
          <a:lstStyle>
            <a:lvl1pPr>
              <a:spcBef>
                <a:spcPts val="1200"/>
              </a:spcBef>
              <a:defRPr b="0" spc="-36"/>
            </a:lvl1pPr>
            <a:lvl2pPr>
              <a:spcBef>
                <a:spcPts val="1200"/>
              </a:spcBef>
              <a:defRPr b="0" spc="-36"/>
            </a:lvl2pPr>
            <a:lvl3pPr>
              <a:spcBef>
                <a:spcPts val="1200"/>
              </a:spcBef>
              <a:defRPr b="0" spc="-36"/>
            </a:lvl3pPr>
            <a:lvl4pPr>
              <a:spcBef>
                <a:spcPts val="1200"/>
              </a:spcBef>
              <a:defRPr b="0" spc="-36"/>
            </a:lvl4pPr>
            <a:lvl5pPr>
              <a:spcBef>
                <a:spcPts val="1200"/>
              </a:spcBef>
              <a:defRPr b="0" spc="-36"/>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quarter" idx="1" hasCustomPrompt="1"/>
          </p:nvPr>
        </p:nvSpPr>
        <p:spPr>
          <a:xfrm>
            <a:off x="3245555" y="3711041"/>
            <a:ext cx="9764890" cy="1721918"/>
          </a:xfrm>
          <a:prstGeom prst="rect">
            <a:avLst/>
          </a:prstGeom>
        </p:spPr>
        <p:txBody>
          <a:bodyPr anchor="ctr"/>
          <a:lstStyle>
            <a:lvl1pPr algn="ctr" defTabSz="1625559">
              <a:lnSpc>
                <a:spcPct val="80000"/>
              </a:lnSpc>
              <a:defRPr b="0" spc="-152" sz="7600">
                <a:latin typeface="Helvetica Neue Medium"/>
                <a:ea typeface="Helvetica Neue Medium"/>
                <a:cs typeface="Helvetica Neue Medium"/>
                <a:sym typeface="Helvetica Neue Medium"/>
              </a:defRPr>
            </a:lvl1pPr>
            <a:lvl2pPr algn="ctr" defTabSz="1625559">
              <a:lnSpc>
                <a:spcPct val="80000"/>
              </a:lnSpc>
              <a:defRPr b="0" spc="-152" sz="7600">
                <a:latin typeface="Helvetica Neue Medium"/>
                <a:ea typeface="Helvetica Neue Medium"/>
                <a:cs typeface="Helvetica Neue Medium"/>
                <a:sym typeface="Helvetica Neue Medium"/>
              </a:defRPr>
            </a:lvl2pPr>
            <a:lvl3pPr algn="ctr" defTabSz="1625559">
              <a:lnSpc>
                <a:spcPct val="80000"/>
              </a:lnSpc>
              <a:defRPr b="0" spc="-152" sz="7600">
                <a:latin typeface="Helvetica Neue Medium"/>
                <a:ea typeface="Helvetica Neue Medium"/>
                <a:cs typeface="Helvetica Neue Medium"/>
                <a:sym typeface="Helvetica Neue Medium"/>
              </a:defRPr>
            </a:lvl3pPr>
            <a:lvl4pPr algn="ctr" defTabSz="1625559">
              <a:lnSpc>
                <a:spcPct val="80000"/>
              </a:lnSpc>
              <a:defRPr b="0" spc="-152" sz="7600">
                <a:latin typeface="Helvetica Neue Medium"/>
                <a:ea typeface="Helvetica Neue Medium"/>
                <a:cs typeface="Helvetica Neue Medium"/>
                <a:sym typeface="Helvetica Neue Medium"/>
              </a:defRPr>
            </a:lvl4pPr>
            <a:lvl5pPr algn="ctr" defTabSz="1625559">
              <a:lnSpc>
                <a:spcPct val="80000"/>
              </a:lnSpc>
              <a:defRPr b="0" spc="-152" sz="7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sz="half" idx="1" hasCustomPrompt="1"/>
          </p:nvPr>
        </p:nvSpPr>
        <p:spPr>
          <a:xfrm>
            <a:off x="3245555" y="2002189"/>
            <a:ext cx="9764890" cy="3218483"/>
          </a:xfrm>
          <a:prstGeom prst="rect">
            <a:avLst/>
          </a:prstGeom>
        </p:spPr>
        <p:txBody>
          <a:bodyPr anchor="b"/>
          <a:lstStyle>
            <a:lvl1pPr algn="ctr" defTabSz="1625559">
              <a:lnSpc>
                <a:spcPct val="80000"/>
              </a:lnSpc>
              <a:defRPr spc="-166" sz="16600"/>
            </a:lvl1pPr>
            <a:lvl2pPr algn="ctr" defTabSz="1625559">
              <a:lnSpc>
                <a:spcPct val="80000"/>
              </a:lnSpc>
              <a:defRPr spc="-166" sz="16600"/>
            </a:lvl2pPr>
            <a:lvl3pPr algn="ctr" defTabSz="1625559">
              <a:lnSpc>
                <a:spcPct val="80000"/>
              </a:lnSpc>
              <a:defRPr spc="-166" sz="16600"/>
            </a:lvl3pPr>
            <a:lvl4pPr algn="ctr" defTabSz="1625559">
              <a:lnSpc>
                <a:spcPct val="80000"/>
              </a:lnSpc>
              <a:defRPr spc="-166" sz="16600"/>
            </a:lvl4pPr>
            <a:lvl5pPr algn="ctr" defTabSz="1625559">
              <a:lnSpc>
                <a:spcPct val="80000"/>
              </a:lnSpc>
              <a:defRPr spc="-166" sz="166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3245555" y="5196080"/>
            <a:ext cx="9764890" cy="415458"/>
          </a:xfrm>
          <a:prstGeom prst="rect">
            <a:avLst/>
          </a:prstGeom>
        </p:spPr>
        <p:txBody>
          <a:bodyPr lIns="20319" tIns="20319" rIns="20319" bIns="20319"/>
          <a:lstStyle>
            <a:lvl1pPr algn="ctr" defTabSz="385233">
              <a:defRPr sz="252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3789344" y="6268646"/>
            <a:ext cx="8977802" cy="283102"/>
          </a:xfrm>
          <a:prstGeom prst="rect">
            <a:avLst/>
          </a:prstGeom>
        </p:spPr>
        <p:txBody>
          <a:bodyPr lIns="20319" tIns="20319" rIns="20319" bIns="20319"/>
          <a:lstStyle>
            <a:lvl1pPr defTabSz="368723">
              <a:defRPr sz="1608"/>
            </a:lvl1pPr>
          </a:lstStyle>
          <a:p>
            <a:pPr/>
            <a:r>
              <a:t>Attribution</a:t>
            </a:r>
          </a:p>
        </p:txBody>
      </p:sp>
      <p:sp>
        <p:nvSpPr>
          <p:cNvPr id="136" name="Body Level One…"/>
          <p:cNvSpPr txBox="1"/>
          <p:nvPr>
            <p:ph type="body" sz="quarter" idx="1" hasCustomPrompt="1"/>
          </p:nvPr>
        </p:nvSpPr>
        <p:spPr>
          <a:xfrm>
            <a:off x="3488854" y="3719493"/>
            <a:ext cx="9278292" cy="1705014"/>
          </a:xfrm>
          <a:prstGeom prst="rect">
            <a:avLst/>
          </a:prstGeom>
        </p:spPr>
        <p:txBody>
          <a:bodyPr/>
          <a:lstStyle>
            <a:lvl1pPr marL="425948" indent="-313266" defTabSz="1625559">
              <a:lnSpc>
                <a:spcPct val="90000"/>
              </a:lnSpc>
              <a:defRPr b="0" spc="-112" sz="5600">
                <a:latin typeface="Helvetica Neue Medium"/>
                <a:ea typeface="Helvetica Neue Medium"/>
                <a:cs typeface="Helvetica Neue Medium"/>
                <a:sym typeface="Helvetica Neue Medium"/>
              </a:defRPr>
            </a:lvl1pPr>
            <a:lvl2pPr marL="425948" indent="143933" defTabSz="1625559">
              <a:lnSpc>
                <a:spcPct val="90000"/>
              </a:lnSpc>
              <a:defRPr b="0" spc="-112" sz="5600">
                <a:latin typeface="Helvetica Neue Medium"/>
                <a:ea typeface="Helvetica Neue Medium"/>
                <a:cs typeface="Helvetica Neue Medium"/>
                <a:sym typeface="Helvetica Neue Medium"/>
              </a:defRPr>
            </a:lvl2pPr>
            <a:lvl3pPr marL="425948" indent="601133" defTabSz="1625559">
              <a:lnSpc>
                <a:spcPct val="90000"/>
              </a:lnSpc>
              <a:defRPr b="0" spc="-112" sz="5600">
                <a:latin typeface="Helvetica Neue Medium"/>
                <a:ea typeface="Helvetica Neue Medium"/>
                <a:cs typeface="Helvetica Neue Medium"/>
                <a:sym typeface="Helvetica Neue Medium"/>
              </a:defRPr>
            </a:lvl3pPr>
            <a:lvl4pPr marL="425948" indent="1058333" defTabSz="1625559">
              <a:lnSpc>
                <a:spcPct val="90000"/>
              </a:lnSpc>
              <a:defRPr b="0" spc="-112" sz="5600">
                <a:latin typeface="Helvetica Neue Medium"/>
                <a:ea typeface="Helvetica Neue Medium"/>
                <a:cs typeface="Helvetica Neue Medium"/>
                <a:sym typeface="Helvetica Neue Medium"/>
              </a:defRPr>
            </a:lvl4pPr>
            <a:lvl5pPr marL="425948" indent="1515533" defTabSz="1625559">
              <a:lnSpc>
                <a:spcPct val="90000"/>
              </a:lnSpc>
              <a:defRPr b="0" spc="-112" sz="56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9714088" y="1975555"/>
            <a:ext cx="3306268" cy="2644302"/>
          </a:xfrm>
          <a:prstGeom prst="rect">
            <a:avLst/>
          </a:prstGeom>
        </p:spPr>
        <p:txBody>
          <a:bodyPr lIns="91439" tIns="45719" rIns="91439" bIns="45719">
            <a:noAutofit/>
          </a:bodyPr>
          <a:lstStyle/>
          <a:p>
            <a:pPr/>
          </a:p>
        </p:txBody>
      </p:sp>
      <p:sp>
        <p:nvSpPr>
          <p:cNvPr id="145" name="Bowl with salmon cakes, salad, and hummus "/>
          <p:cNvSpPr/>
          <p:nvPr>
            <p:ph type="pic" sz="quarter" idx="22"/>
          </p:nvPr>
        </p:nvSpPr>
        <p:spPr>
          <a:xfrm>
            <a:off x="8709377" y="3292122"/>
            <a:ext cx="4639735" cy="54000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sz="half" idx="23"/>
          </p:nvPr>
        </p:nvSpPr>
        <p:spPr>
          <a:xfrm>
            <a:off x="2647244" y="1744133"/>
            <a:ext cx="7382934" cy="5537201"/>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2116666" y="-931334"/>
            <a:ext cx="12022668" cy="9618135"/>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Presentation Title"/>
          <p:cNvSpPr txBox="1"/>
          <p:nvPr>
            <p:ph type="title" hasCustomPrompt="1"/>
          </p:nvPr>
        </p:nvSpPr>
        <p:spPr>
          <a:xfrm>
            <a:off x="3245553" y="2668440"/>
            <a:ext cx="9764892" cy="206586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b">
            <a:normAutofit fontScale="100000" lnSpcReduction="0"/>
          </a:bodyPr>
          <a:lstStyle/>
          <a:p>
            <a:pPr/>
            <a:r>
              <a:t>Presentation Title</a:t>
            </a:r>
          </a:p>
        </p:txBody>
      </p:sp>
      <p:sp>
        <p:nvSpPr>
          <p:cNvPr id="3" name="Body Level One…"/>
          <p:cNvSpPr txBox="1"/>
          <p:nvPr>
            <p:ph type="body" idx="1" hasCustomPrompt="1"/>
          </p:nvPr>
        </p:nvSpPr>
        <p:spPr>
          <a:xfrm>
            <a:off x="3243263" y="4734307"/>
            <a:ext cx="9764890" cy="846667"/>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ormAutofit fontScale="100000" lnSpcReduction="0"/>
          </a:bodyPr>
          <a:lstStyle/>
          <a:p>
            <a:pPr/>
            <a:r>
              <a:t>Presentation Subtitle</a:t>
            </a:r>
          </a:p>
          <a:p>
            <a:pPr lvl="1"/>
            <a:r>
              <a:t/>
            </a:r>
          </a:p>
          <a:p>
            <a:pPr lvl="2"/>
            <a:r>
              <a:t/>
            </a:r>
          </a:p>
          <a:p>
            <a:pPr lvl="3"/>
            <a:r>
              <a:t/>
            </a:r>
          </a:p>
          <a:p>
            <a:pPr lvl="4"/>
            <a:r>
              <a:t/>
            </a:r>
          </a:p>
        </p:txBody>
      </p:sp>
      <p:sp>
        <p:nvSpPr>
          <p:cNvPr id="4" name="Slide Number"/>
          <p:cNvSpPr txBox="1"/>
          <p:nvPr>
            <p:ph type="sldNum" sz="quarter" idx="2"/>
          </p:nvPr>
        </p:nvSpPr>
        <p:spPr>
          <a:xfrm>
            <a:off x="8011560" y="7285577"/>
            <a:ext cx="227326" cy="218690"/>
          </a:xfrm>
          <a:prstGeom prst="rect">
            <a:avLst/>
          </a:prstGeom>
          <a:ln w="3175">
            <a:miter lim="400000"/>
          </a:ln>
        </p:spPr>
        <p:txBody>
          <a:bodyPr wrap="none" lIns="22577" tIns="22577" rIns="22577" bIns="22577" anchor="b">
            <a:spAutoFit/>
          </a:bodyPr>
          <a:lstStyle>
            <a:lvl1pPr algn="ctr" defTabSz="389466">
              <a:lnSpc>
                <a:spcPct val="100000"/>
              </a:lnSpc>
              <a:spcBef>
                <a:spcPts val="0"/>
              </a:spcBef>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1625559" rtl="0" latinLnBrk="0">
        <a:lnSpc>
          <a:spcPct val="80000"/>
        </a:lnSpc>
        <a:spcBef>
          <a:spcPts val="0"/>
        </a:spcBef>
        <a:spcAft>
          <a:spcPts val="0"/>
        </a:spcAft>
        <a:buClrTx/>
        <a:buSzTx/>
        <a:buFontTx/>
        <a:buNone/>
        <a:tabLst/>
        <a:defRPr b="1" baseline="0" cap="none" i="0" spc="-152" strike="noStrike" sz="7600" u="none">
          <a:solidFill>
            <a:srgbClr val="000000"/>
          </a:solidFill>
          <a:uFillTx/>
          <a:latin typeface="+mn-lt"/>
          <a:ea typeface="+mn-ea"/>
          <a:cs typeface="+mn-cs"/>
          <a:sym typeface="Helvetica Neue"/>
        </a:defRPr>
      </a:lvl1pPr>
      <a:lvl2pPr marL="0" marR="0" indent="457200" algn="l" defTabSz="1625559" rtl="0" latinLnBrk="0">
        <a:lnSpc>
          <a:spcPct val="80000"/>
        </a:lnSpc>
        <a:spcBef>
          <a:spcPts val="0"/>
        </a:spcBef>
        <a:spcAft>
          <a:spcPts val="0"/>
        </a:spcAft>
        <a:buClrTx/>
        <a:buSzTx/>
        <a:buFontTx/>
        <a:buNone/>
        <a:tabLst/>
        <a:defRPr b="1" baseline="0" cap="none" i="0" spc="-152" strike="noStrike" sz="7600" u="none">
          <a:solidFill>
            <a:srgbClr val="000000"/>
          </a:solidFill>
          <a:uFillTx/>
          <a:latin typeface="+mn-lt"/>
          <a:ea typeface="+mn-ea"/>
          <a:cs typeface="+mn-cs"/>
          <a:sym typeface="Helvetica Neue"/>
        </a:defRPr>
      </a:lvl2pPr>
      <a:lvl3pPr marL="0" marR="0" indent="914400" algn="l" defTabSz="1625559" rtl="0" latinLnBrk="0">
        <a:lnSpc>
          <a:spcPct val="80000"/>
        </a:lnSpc>
        <a:spcBef>
          <a:spcPts val="0"/>
        </a:spcBef>
        <a:spcAft>
          <a:spcPts val="0"/>
        </a:spcAft>
        <a:buClrTx/>
        <a:buSzTx/>
        <a:buFontTx/>
        <a:buNone/>
        <a:tabLst/>
        <a:defRPr b="1" baseline="0" cap="none" i="0" spc="-152" strike="noStrike" sz="7600" u="none">
          <a:solidFill>
            <a:srgbClr val="000000"/>
          </a:solidFill>
          <a:uFillTx/>
          <a:latin typeface="+mn-lt"/>
          <a:ea typeface="+mn-ea"/>
          <a:cs typeface="+mn-cs"/>
          <a:sym typeface="Helvetica Neue"/>
        </a:defRPr>
      </a:lvl3pPr>
      <a:lvl4pPr marL="0" marR="0" indent="1371600" algn="l" defTabSz="1625559" rtl="0" latinLnBrk="0">
        <a:lnSpc>
          <a:spcPct val="80000"/>
        </a:lnSpc>
        <a:spcBef>
          <a:spcPts val="0"/>
        </a:spcBef>
        <a:spcAft>
          <a:spcPts val="0"/>
        </a:spcAft>
        <a:buClrTx/>
        <a:buSzTx/>
        <a:buFontTx/>
        <a:buNone/>
        <a:tabLst/>
        <a:defRPr b="1" baseline="0" cap="none" i="0" spc="-152" strike="noStrike" sz="7600" u="none">
          <a:solidFill>
            <a:srgbClr val="000000"/>
          </a:solidFill>
          <a:uFillTx/>
          <a:latin typeface="+mn-lt"/>
          <a:ea typeface="+mn-ea"/>
          <a:cs typeface="+mn-cs"/>
          <a:sym typeface="Helvetica Neue"/>
        </a:defRPr>
      </a:lvl4pPr>
      <a:lvl5pPr marL="0" marR="0" indent="1828800" algn="l" defTabSz="1625559" rtl="0" latinLnBrk="0">
        <a:lnSpc>
          <a:spcPct val="80000"/>
        </a:lnSpc>
        <a:spcBef>
          <a:spcPts val="0"/>
        </a:spcBef>
        <a:spcAft>
          <a:spcPts val="0"/>
        </a:spcAft>
        <a:buClrTx/>
        <a:buSzTx/>
        <a:buFontTx/>
        <a:buNone/>
        <a:tabLst/>
        <a:defRPr b="1" baseline="0" cap="none" i="0" spc="-152" strike="noStrike" sz="7600" u="none">
          <a:solidFill>
            <a:srgbClr val="000000"/>
          </a:solidFill>
          <a:uFillTx/>
          <a:latin typeface="+mn-lt"/>
          <a:ea typeface="+mn-ea"/>
          <a:cs typeface="+mn-cs"/>
          <a:sym typeface="Helvetica Neue"/>
        </a:defRPr>
      </a:lvl5pPr>
      <a:lvl6pPr marL="0" marR="0" indent="2286000" algn="l" defTabSz="1625559" rtl="0" latinLnBrk="0">
        <a:lnSpc>
          <a:spcPct val="80000"/>
        </a:lnSpc>
        <a:spcBef>
          <a:spcPts val="0"/>
        </a:spcBef>
        <a:spcAft>
          <a:spcPts val="0"/>
        </a:spcAft>
        <a:buClrTx/>
        <a:buSzTx/>
        <a:buFontTx/>
        <a:buNone/>
        <a:tabLst/>
        <a:defRPr b="1" baseline="0" cap="none" i="0" spc="-152" strike="noStrike" sz="7600" u="none">
          <a:solidFill>
            <a:srgbClr val="000000"/>
          </a:solidFill>
          <a:uFillTx/>
          <a:latin typeface="+mn-lt"/>
          <a:ea typeface="+mn-ea"/>
          <a:cs typeface="+mn-cs"/>
          <a:sym typeface="Helvetica Neue"/>
        </a:defRPr>
      </a:lvl6pPr>
      <a:lvl7pPr marL="0" marR="0" indent="2743200" algn="l" defTabSz="1625559" rtl="0" latinLnBrk="0">
        <a:lnSpc>
          <a:spcPct val="80000"/>
        </a:lnSpc>
        <a:spcBef>
          <a:spcPts val="0"/>
        </a:spcBef>
        <a:spcAft>
          <a:spcPts val="0"/>
        </a:spcAft>
        <a:buClrTx/>
        <a:buSzTx/>
        <a:buFontTx/>
        <a:buNone/>
        <a:tabLst/>
        <a:defRPr b="1" baseline="0" cap="none" i="0" spc="-152" strike="noStrike" sz="7600" u="none">
          <a:solidFill>
            <a:srgbClr val="000000"/>
          </a:solidFill>
          <a:uFillTx/>
          <a:latin typeface="+mn-lt"/>
          <a:ea typeface="+mn-ea"/>
          <a:cs typeface="+mn-cs"/>
          <a:sym typeface="Helvetica Neue"/>
        </a:defRPr>
      </a:lvl7pPr>
      <a:lvl8pPr marL="0" marR="0" indent="3200400" algn="l" defTabSz="1625559" rtl="0" latinLnBrk="0">
        <a:lnSpc>
          <a:spcPct val="80000"/>
        </a:lnSpc>
        <a:spcBef>
          <a:spcPts val="0"/>
        </a:spcBef>
        <a:spcAft>
          <a:spcPts val="0"/>
        </a:spcAft>
        <a:buClrTx/>
        <a:buSzTx/>
        <a:buFontTx/>
        <a:buNone/>
        <a:tabLst/>
        <a:defRPr b="1" baseline="0" cap="none" i="0" spc="-152" strike="noStrike" sz="7600" u="none">
          <a:solidFill>
            <a:srgbClr val="000000"/>
          </a:solidFill>
          <a:uFillTx/>
          <a:latin typeface="+mn-lt"/>
          <a:ea typeface="+mn-ea"/>
          <a:cs typeface="+mn-cs"/>
          <a:sym typeface="Helvetica Neue"/>
        </a:defRPr>
      </a:lvl8pPr>
      <a:lvl9pPr marL="0" marR="0" indent="3657600" algn="l" defTabSz="1625559" rtl="0" latinLnBrk="0">
        <a:lnSpc>
          <a:spcPct val="80000"/>
        </a:lnSpc>
        <a:spcBef>
          <a:spcPts val="0"/>
        </a:spcBef>
        <a:spcAft>
          <a:spcPts val="0"/>
        </a:spcAft>
        <a:buClrTx/>
        <a:buSzTx/>
        <a:buFontTx/>
        <a:buNone/>
        <a:tabLst/>
        <a:defRPr b="1" baseline="0" cap="none" i="0" spc="-152" strike="noStrike" sz="7600" u="none">
          <a:solidFill>
            <a:srgbClr val="000000"/>
          </a:solidFill>
          <a:uFillTx/>
          <a:latin typeface="+mn-lt"/>
          <a:ea typeface="+mn-ea"/>
          <a:cs typeface="+mn-cs"/>
          <a:sym typeface="Helvetica Neue"/>
        </a:defRPr>
      </a:lvl9pPr>
    </p:titleStyle>
    <p:bodyStyle>
      <a:lvl1pPr marL="0" marR="0" indent="0" algn="l" defTabSz="550333" rtl="0" latinLnBrk="0">
        <a:lnSpc>
          <a:spcPct val="100000"/>
        </a:lnSpc>
        <a:spcBef>
          <a:spcPts val="0"/>
        </a:spcBef>
        <a:spcAft>
          <a:spcPts val="0"/>
        </a:spcAft>
        <a:buClrTx/>
        <a:buSzTx/>
        <a:buFontTx/>
        <a:buNone/>
        <a:tabLst/>
        <a:defRPr b="1" baseline="0" cap="none" i="0" spc="0" strike="noStrike" sz="3600" u="none">
          <a:solidFill>
            <a:srgbClr val="000000"/>
          </a:solidFill>
          <a:uFillTx/>
          <a:latin typeface="+mn-lt"/>
          <a:ea typeface="+mn-ea"/>
          <a:cs typeface="+mn-cs"/>
          <a:sym typeface="Helvetica Neue"/>
        </a:defRPr>
      </a:lvl1pPr>
      <a:lvl2pPr marL="0" marR="0" indent="457200" algn="l" defTabSz="550333" rtl="0" latinLnBrk="0">
        <a:lnSpc>
          <a:spcPct val="100000"/>
        </a:lnSpc>
        <a:spcBef>
          <a:spcPts val="0"/>
        </a:spcBef>
        <a:spcAft>
          <a:spcPts val="0"/>
        </a:spcAft>
        <a:buClrTx/>
        <a:buSzTx/>
        <a:buFontTx/>
        <a:buNone/>
        <a:tabLst/>
        <a:defRPr b="1" baseline="0" cap="none" i="0" spc="0" strike="noStrike" sz="3600" u="none">
          <a:solidFill>
            <a:srgbClr val="000000"/>
          </a:solidFill>
          <a:uFillTx/>
          <a:latin typeface="+mn-lt"/>
          <a:ea typeface="+mn-ea"/>
          <a:cs typeface="+mn-cs"/>
          <a:sym typeface="Helvetica Neue"/>
        </a:defRPr>
      </a:lvl2pPr>
      <a:lvl3pPr marL="0" marR="0" indent="914400" algn="l" defTabSz="550333" rtl="0" latinLnBrk="0">
        <a:lnSpc>
          <a:spcPct val="100000"/>
        </a:lnSpc>
        <a:spcBef>
          <a:spcPts val="0"/>
        </a:spcBef>
        <a:spcAft>
          <a:spcPts val="0"/>
        </a:spcAft>
        <a:buClrTx/>
        <a:buSzTx/>
        <a:buFontTx/>
        <a:buNone/>
        <a:tabLst/>
        <a:defRPr b="1" baseline="0" cap="none" i="0" spc="0" strike="noStrike" sz="3600" u="none">
          <a:solidFill>
            <a:srgbClr val="000000"/>
          </a:solidFill>
          <a:uFillTx/>
          <a:latin typeface="+mn-lt"/>
          <a:ea typeface="+mn-ea"/>
          <a:cs typeface="+mn-cs"/>
          <a:sym typeface="Helvetica Neue"/>
        </a:defRPr>
      </a:lvl3pPr>
      <a:lvl4pPr marL="0" marR="0" indent="1371600" algn="l" defTabSz="550333" rtl="0" latinLnBrk="0">
        <a:lnSpc>
          <a:spcPct val="100000"/>
        </a:lnSpc>
        <a:spcBef>
          <a:spcPts val="0"/>
        </a:spcBef>
        <a:spcAft>
          <a:spcPts val="0"/>
        </a:spcAft>
        <a:buClrTx/>
        <a:buSzTx/>
        <a:buFontTx/>
        <a:buNone/>
        <a:tabLst/>
        <a:defRPr b="1" baseline="0" cap="none" i="0" spc="0" strike="noStrike" sz="3600" u="none">
          <a:solidFill>
            <a:srgbClr val="000000"/>
          </a:solidFill>
          <a:uFillTx/>
          <a:latin typeface="+mn-lt"/>
          <a:ea typeface="+mn-ea"/>
          <a:cs typeface="+mn-cs"/>
          <a:sym typeface="Helvetica Neue"/>
        </a:defRPr>
      </a:lvl4pPr>
      <a:lvl5pPr marL="0" marR="0" indent="1828800" algn="l" defTabSz="550333" rtl="0" latinLnBrk="0">
        <a:lnSpc>
          <a:spcPct val="100000"/>
        </a:lnSpc>
        <a:spcBef>
          <a:spcPts val="0"/>
        </a:spcBef>
        <a:spcAft>
          <a:spcPts val="0"/>
        </a:spcAft>
        <a:buClrTx/>
        <a:buSzTx/>
        <a:buFontTx/>
        <a:buNone/>
        <a:tabLst/>
        <a:defRPr b="1" baseline="0" cap="none" i="0" spc="0" strike="noStrike" sz="3600" u="none">
          <a:solidFill>
            <a:srgbClr val="000000"/>
          </a:solidFill>
          <a:uFillTx/>
          <a:latin typeface="+mn-lt"/>
          <a:ea typeface="+mn-ea"/>
          <a:cs typeface="+mn-cs"/>
          <a:sym typeface="Helvetica Neue"/>
        </a:defRPr>
      </a:lvl5pPr>
      <a:lvl6pPr marL="0" marR="0" indent="2286000" algn="l" defTabSz="550333" rtl="0" latinLnBrk="0">
        <a:lnSpc>
          <a:spcPct val="100000"/>
        </a:lnSpc>
        <a:spcBef>
          <a:spcPts val="0"/>
        </a:spcBef>
        <a:spcAft>
          <a:spcPts val="0"/>
        </a:spcAft>
        <a:buClrTx/>
        <a:buSzTx/>
        <a:buFontTx/>
        <a:buNone/>
        <a:tabLst/>
        <a:defRPr b="1" baseline="0" cap="none" i="0" spc="0" strike="noStrike" sz="3600" u="none">
          <a:solidFill>
            <a:srgbClr val="000000"/>
          </a:solidFill>
          <a:uFillTx/>
          <a:latin typeface="+mn-lt"/>
          <a:ea typeface="+mn-ea"/>
          <a:cs typeface="+mn-cs"/>
          <a:sym typeface="Helvetica Neue"/>
        </a:defRPr>
      </a:lvl6pPr>
      <a:lvl7pPr marL="0" marR="0" indent="2743200" algn="l" defTabSz="550333" rtl="0" latinLnBrk="0">
        <a:lnSpc>
          <a:spcPct val="100000"/>
        </a:lnSpc>
        <a:spcBef>
          <a:spcPts val="0"/>
        </a:spcBef>
        <a:spcAft>
          <a:spcPts val="0"/>
        </a:spcAft>
        <a:buClrTx/>
        <a:buSzTx/>
        <a:buFontTx/>
        <a:buNone/>
        <a:tabLst/>
        <a:defRPr b="1" baseline="0" cap="none" i="0" spc="0" strike="noStrike" sz="3600" u="none">
          <a:solidFill>
            <a:srgbClr val="000000"/>
          </a:solidFill>
          <a:uFillTx/>
          <a:latin typeface="+mn-lt"/>
          <a:ea typeface="+mn-ea"/>
          <a:cs typeface="+mn-cs"/>
          <a:sym typeface="Helvetica Neue"/>
        </a:defRPr>
      </a:lvl7pPr>
      <a:lvl8pPr marL="0" marR="0" indent="3200400" algn="l" defTabSz="550333" rtl="0" latinLnBrk="0">
        <a:lnSpc>
          <a:spcPct val="100000"/>
        </a:lnSpc>
        <a:spcBef>
          <a:spcPts val="0"/>
        </a:spcBef>
        <a:spcAft>
          <a:spcPts val="0"/>
        </a:spcAft>
        <a:buClrTx/>
        <a:buSzTx/>
        <a:buFontTx/>
        <a:buNone/>
        <a:tabLst/>
        <a:defRPr b="1" baseline="0" cap="none" i="0" spc="0" strike="noStrike" sz="3600" u="none">
          <a:solidFill>
            <a:srgbClr val="000000"/>
          </a:solidFill>
          <a:uFillTx/>
          <a:latin typeface="+mn-lt"/>
          <a:ea typeface="+mn-ea"/>
          <a:cs typeface="+mn-cs"/>
          <a:sym typeface="Helvetica Neue"/>
        </a:defRPr>
      </a:lvl8pPr>
      <a:lvl9pPr marL="0" marR="0" indent="3657600" algn="l" defTabSz="550333" rtl="0" latinLnBrk="0">
        <a:lnSpc>
          <a:spcPct val="100000"/>
        </a:lnSpc>
        <a:spcBef>
          <a:spcPts val="0"/>
        </a:spcBef>
        <a:spcAft>
          <a:spcPts val="0"/>
        </a:spcAft>
        <a:buClrTx/>
        <a:buSzTx/>
        <a:buFontTx/>
        <a:buNone/>
        <a:tabLst/>
        <a:defRPr b="1" baseline="0" cap="none" i="0" spc="0" strike="noStrike" sz="3600" u="none">
          <a:solidFill>
            <a:srgbClr val="000000"/>
          </a:solidFill>
          <a:uFillTx/>
          <a:latin typeface="+mn-lt"/>
          <a:ea typeface="+mn-ea"/>
          <a:cs typeface="+mn-cs"/>
          <a:sym typeface="Helvetica Neue"/>
        </a:defRPr>
      </a:lvl9pPr>
    </p:bodyStyle>
    <p:otherStyle>
      <a:lvl1pPr marL="0" marR="0" indent="0" algn="ctr" defTabSz="3894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1pPr>
      <a:lvl2pPr marL="0" marR="0" indent="457200" algn="ctr" defTabSz="3894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2pPr>
      <a:lvl3pPr marL="0" marR="0" indent="914400" algn="ctr" defTabSz="3894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3pPr>
      <a:lvl4pPr marL="0" marR="0" indent="1371600" algn="ctr" defTabSz="3894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4pPr>
      <a:lvl5pPr marL="0" marR="0" indent="1828800" algn="ctr" defTabSz="3894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5pPr>
      <a:lvl6pPr marL="0" marR="0" indent="2286000" algn="ctr" defTabSz="3894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6pPr>
      <a:lvl7pPr marL="0" marR="0" indent="2743200" algn="ctr" defTabSz="3894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7pPr>
      <a:lvl8pPr marL="0" marR="0" indent="3200400" algn="ctr" defTabSz="3894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8pPr>
      <a:lvl9pPr marL="0" marR="0" indent="3657600" algn="ctr" defTabSz="389466"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Floater Finder"/>
          <p:cNvSpPr txBox="1"/>
          <p:nvPr/>
        </p:nvSpPr>
        <p:spPr>
          <a:xfrm>
            <a:off x="889000" y="929271"/>
            <a:ext cx="14478000" cy="87195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5800">
                <a:solidFill>
                  <a:srgbClr val="1D3F54"/>
                </a:solidFill>
                <a:latin typeface="Arial"/>
                <a:ea typeface="Arial"/>
                <a:cs typeface="Arial"/>
                <a:sym typeface="Arial"/>
              </a:defRPr>
            </a:lvl1pPr>
          </a:lstStyle>
          <a:p>
            <a:pPr/>
            <a:r>
              <a:t>Floater Finder</a:t>
            </a:r>
          </a:p>
        </p:txBody>
      </p:sp>
      <p:sp>
        <p:nvSpPr>
          <p:cNvPr id="172" name="Prostate-biopsy fragment dependence"/>
          <p:cNvSpPr txBox="1"/>
          <p:nvPr/>
        </p:nvSpPr>
        <p:spPr>
          <a:xfrm>
            <a:off x="889000" y="2950766"/>
            <a:ext cx="14097000" cy="57546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800">
                <a:solidFill>
                  <a:srgbClr val="1D3F54"/>
                </a:solidFill>
                <a:latin typeface="Arial"/>
                <a:ea typeface="Arial"/>
                <a:cs typeface="Arial"/>
                <a:sym typeface="Arial"/>
              </a:defRPr>
            </a:lvl1pPr>
          </a:lstStyle>
          <a:p>
            <a:pPr/>
            <a:r>
              <a:t>Prostate-biopsy fragment dependence</a:t>
            </a:r>
          </a:p>
        </p:txBody>
      </p:sp>
      <p:sp>
        <p:nvSpPr>
          <p:cNvPr id="173" name="A CONCH safety experiment for pathologist review"/>
          <p:cNvSpPr txBox="1"/>
          <p:nvPr/>
        </p:nvSpPr>
        <p:spPr>
          <a:xfrm>
            <a:off x="889000" y="4199431"/>
            <a:ext cx="13208000" cy="42763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700">
                <a:solidFill>
                  <a:srgbClr val="1D3F54"/>
                </a:solidFill>
                <a:latin typeface="Arial"/>
                <a:ea typeface="Arial"/>
                <a:cs typeface="Arial"/>
                <a:sym typeface="Arial"/>
              </a:defRPr>
            </a:lvl1pPr>
          </a:lstStyle>
          <a:p>
            <a:pPr/>
            <a:r>
              <a:t>A CONCH safety experiment for pathologist review</a:t>
            </a:r>
          </a:p>
        </p:txBody>
      </p:sp>
      <p:sp>
        <p:nvSpPr>
          <p:cNvPr id="174" name="Ashby Hackathon 2026"/>
          <p:cNvSpPr txBox="1"/>
          <p:nvPr/>
        </p:nvSpPr>
        <p:spPr>
          <a:xfrm>
            <a:off x="889000" y="6573500"/>
            <a:ext cx="8890001" cy="3785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300">
                <a:solidFill>
                  <a:srgbClr val="087F8A"/>
                </a:solidFill>
                <a:latin typeface="Arial"/>
                <a:ea typeface="Arial"/>
                <a:cs typeface="Arial"/>
                <a:sym typeface="Arial"/>
              </a:defRPr>
            </a:lvl1pPr>
          </a:lstStyle>
          <a:p>
            <a:pPr/>
            <a:r>
              <a:t>Ashby Hackathon 2026</a:t>
            </a:r>
          </a:p>
        </p:txBody>
      </p:sp>
      <p:sp>
        <p:nvSpPr>
          <p:cNvPr id="175" name="Measured development results. Clinical usefulness remains unverified."/>
          <p:cNvSpPr txBox="1"/>
          <p:nvPr/>
        </p:nvSpPr>
        <p:spPr>
          <a:xfrm>
            <a:off x="889000" y="7544634"/>
            <a:ext cx="14224000" cy="34123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100">
                <a:solidFill>
                  <a:srgbClr val="6B7A87"/>
                </a:solidFill>
                <a:latin typeface="Arial"/>
                <a:ea typeface="Arial"/>
                <a:cs typeface="Arial"/>
                <a:sym typeface="Arial"/>
              </a:defRPr>
            </a:lvl1pPr>
          </a:lstStyle>
          <a:p>
            <a:pPr/>
            <a:r>
              <a:t>Measured development results. Clinical usefulness remains unverified.</a:t>
            </a:r>
          </a:p>
        </p:txBody>
      </p:sp>
      <p:sp>
        <p:nvSpPr>
          <p:cNvPr id="176" name="01"/>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01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The specimen-consistency problem"/>
          <p:cNvSpPr txBox="1"/>
          <p:nvPr/>
        </p:nvSpPr>
        <p:spPr>
          <a:xfrm>
            <a:off x="889000" y="1083450"/>
            <a:ext cx="14478000"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The specimen-consistency problem</a:t>
            </a:r>
          </a:p>
        </p:txBody>
      </p:sp>
      <p:sp>
        <p:nvSpPr>
          <p:cNvPr id="181" name="Extraneous tissue can create a diagnostic discrepancy"/>
          <p:cNvSpPr txBox="1"/>
          <p:nvPr/>
        </p:nvSpPr>
        <p:spPr>
          <a:xfrm>
            <a:off x="889000" y="1744139"/>
            <a:ext cx="8255000" cy="90224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100">
                <a:solidFill>
                  <a:srgbClr val="1D3F54"/>
                </a:solidFill>
                <a:latin typeface="Arial"/>
                <a:ea typeface="Arial"/>
                <a:cs typeface="Arial"/>
                <a:sym typeface="Arial"/>
              </a:defRPr>
            </a:lvl1pPr>
          </a:lstStyle>
          <a:p>
            <a:pPr/>
            <a:r>
              <a:t>Extraneous tissue can create a diagnostic discrepancy</a:t>
            </a:r>
          </a:p>
        </p:txBody>
      </p:sp>
      <p:sp>
        <p:nvSpPr>
          <p:cNvPr id="182" name="A disease classifier can recognize cancer without establishing that the tissue belongs to the specimen."/>
          <p:cNvSpPr txBox="1"/>
          <p:nvPr/>
        </p:nvSpPr>
        <p:spPr>
          <a:xfrm>
            <a:off x="889000" y="3545126"/>
            <a:ext cx="8255000" cy="117377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800">
                <a:solidFill>
                  <a:srgbClr val="1D3F54"/>
                </a:solidFill>
                <a:latin typeface="Arial"/>
                <a:ea typeface="Arial"/>
                <a:cs typeface="Arial"/>
                <a:sym typeface="Arial"/>
              </a:defRPr>
            </a:lvl1pPr>
          </a:lstStyle>
          <a:p>
            <a:pPr/>
            <a:r>
              <a:t>A disease classifier can recognize cancer without establishing that the tissue belongs to the specimen.</a:t>
            </a:r>
          </a:p>
        </p:txBody>
      </p:sp>
      <p:sp>
        <p:nvSpPr>
          <p:cNvPr id="183" name="The intended action is focused pathologist review. Original tissue and predictions remain intact."/>
          <p:cNvSpPr txBox="1"/>
          <p:nvPr/>
        </p:nvSpPr>
        <p:spPr>
          <a:xfrm>
            <a:off x="889000" y="5867529"/>
            <a:ext cx="8255000" cy="78346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600">
                <a:solidFill>
                  <a:srgbClr val="087F8A"/>
                </a:solidFill>
                <a:latin typeface="Arial"/>
                <a:ea typeface="Arial"/>
                <a:cs typeface="Arial"/>
                <a:sym typeface="Arial"/>
              </a:defRPr>
            </a:lvl1pPr>
          </a:lstStyle>
          <a:p>
            <a:pPr/>
            <a:r>
              <a:t>The intended action is focused pathologist review. Original tissue and predictions remain intact.</a:t>
            </a:r>
          </a:p>
        </p:txBody>
      </p:sp>
      <p:pic>
        <p:nvPicPr>
          <p:cNvPr id="184" name="benign_native.png" descr="benign_native.png"/>
          <p:cNvPicPr>
            <a:picLocks noChangeAspect="1"/>
          </p:cNvPicPr>
          <p:nvPr/>
        </p:nvPicPr>
        <p:blipFill>
          <a:blip r:embed="rId3">
            <a:extLst/>
          </a:blip>
          <a:stretch>
            <a:fillRect/>
          </a:stretch>
        </p:blipFill>
        <p:spPr>
          <a:xfrm>
            <a:off x="10667999" y="1841499"/>
            <a:ext cx="2908301" cy="2908301"/>
          </a:xfrm>
          <a:prstGeom prst="rect">
            <a:avLst/>
          </a:prstGeom>
          <a:ln w="3175">
            <a:miter lim="400000"/>
          </a:ln>
        </p:spPr>
      </p:pic>
      <p:pic>
        <p:nvPicPr>
          <p:cNvPr id="185" name="gp4_native.png" descr="gp4_native.png"/>
          <p:cNvPicPr>
            <a:picLocks noChangeAspect="1"/>
          </p:cNvPicPr>
          <p:nvPr/>
        </p:nvPicPr>
        <p:blipFill>
          <a:blip r:embed="rId4">
            <a:extLst/>
          </a:blip>
          <a:stretch>
            <a:fillRect/>
          </a:stretch>
        </p:blipFill>
        <p:spPr>
          <a:xfrm>
            <a:off x="10667999" y="5016499"/>
            <a:ext cx="2908301" cy="2908301"/>
          </a:xfrm>
          <a:prstGeom prst="rect">
            <a:avLst/>
          </a:prstGeom>
          <a:ln w="3175">
            <a:miter lim="400000"/>
          </a:ln>
        </p:spPr>
      </p:pic>
      <p:sp>
        <p:nvSpPr>
          <p:cNvPr id="186" name="Actual Radboud tiles…"/>
          <p:cNvSpPr txBox="1"/>
          <p:nvPr/>
        </p:nvSpPr>
        <p:spPr>
          <a:xfrm>
            <a:off x="13842999" y="1702537"/>
            <a:ext cx="1778001" cy="2200625"/>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1700">
                <a:solidFill>
                  <a:srgbClr val="6B7A87"/>
                </a:solidFill>
                <a:latin typeface="Arial"/>
                <a:ea typeface="Arial"/>
                <a:cs typeface="Arial"/>
                <a:sym typeface="Arial"/>
              </a:defRPr>
            </a:pPr>
            <a:r>
              <a:t>Actual Radboud tiles</a:t>
            </a:r>
          </a:p>
          <a:p>
            <a:pPr>
              <a:defRPr sz="1700">
                <a:solidFill>
                  <a:srgbClr val="6B7A87"/>
                </a:solidFill>
                <a:latin typeface="Arial"/>
                <a:ea typeface="Arial"/>
                <a:cs typeface="Arial"/>
                <a:sym typeface="Arial"/>
              </a:defRPr>
            </a:pPr>
            <a:r>
              <a:t>Native benign / GP4 annotations</a:t>
            </a:r>
          </a:p>
          <a:p>
            <a:pPr>
              <a:defRPr sz="1700">
                <a:solidFill>
                  <a:srgbClr val="6B7A87"/>
                </a:solidFill>
                <a:latin typeface="Arial"/>
                <a:ea typeface="Arial"/>
                <a:cs typeface="Arial"/>
                <a:sym typeface="Arial"/>
              </a:defRPr>
            </a:pPr>
            <a:r>
              <a:t>No confirmed floater shown</a:t>
            </a:r>
          </a:p>
        </p:txBody>
      </p:sp>
      <p:sp>
        <p:nvSpPr>
          <p:cNvPr id="187" name="02"/>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02</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CONCH and the review question"/>
          <p:cNvSpPr txBox="1"/>
          <p:nvPr/>
        </p:nvSpPr>
        <p:spPr>
          <a:xfrm>
            <a:off x="889000" y="1083450"/>
            <a:ext cx="14478000"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CONCH and the review question</a:t>
            </a:r>
          </a:p>
        </p:txBody>
      </p:sp>
      <p:sp>
        <p:nvSpPr>
          <p:cNvPr id="192" name="CONCH supplies reusable visual representations"/>
          <p:cNvSpPr txBox="1"/>
          <p:nvPr/>
        </p:nvSpPr>
        <p:spPr>
          <a:xfrm>
            <a:off x="889000" y="1977762"/>
            <a:ext cx="14224000" cy="48947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100">
                <a:solidFill>
                  <a:srgbClr val="1D3F54"/>
                </a:solidFill>
                <a:latin typeface="Arial"/>
                <a:ea typeface="Arial"/>
                <a:cs typeface="Arial"/>
                <a:sym typeface="Arial"/>
              </a:defRPr>
            </a:lvl1pPr>
          </a:lstStyle>
          <a:p>
            <a:pPr/>
            <a:r>
              <a:t>CONCH supplies reusable visual representations</a:t>
            </a:r>
          </a:p>
        </p:txBody>
      </p:sp>
      <p:sp>
        <p:nvSpPr>
          <p:cNvPr id="193" name="Fixed morphology prompts support an engineering benign/cancer scorer. They do not certify specimen identity."/>
          <p:cNvSpPr txBox="1"/>
          <p:nvPr/>
        </p:nvSpPr>
        <p:spPr>
          <a:xfrm>
            <a:off x="889000" y="3204199"/>
            <a:ext cx="13716000" cy="83060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900">
                <a:solidFill>
                  <a:srgbClr val="1D3F54"/>
                </a:solidFill>
                <a:latin typeface="Arial"/>
                <a:ea typeface="Arial"/>
                <a:cs typeface="Arial"/>
                <a:sym typeface="Arial"/>
              </a:defRPr>
            </a:lvl1pPr>
          </a:lstStyle>
          <a:p>
            <a:pPr/>
            <a:r>
              <a:t>Fixed morphology prompts support an engineering benign/cancer scorer. They do not certify specimen identity.</a:t>
            </a:r>
          </a:p>
        </p:txBody>
      </p:sp>
      <p:sp>
        <p:nvSpPr>
          <p:cNvPr id="194" name="Disease prediction"/>
          <p:cNvSpPr txBox="1"/>
          <p:nvPr/>
        </p:nvSpPr>
        <p:spPr>
          <a:xfrm>
            <a:off x="889000" y="5234896"/>
            <a:ext cx="6096001" cy="45220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900">
                <a:solidFill>
                  <a:srgbClr val="087F8A"/>
                </a:solidFill>
                <a:latin typeface="Arial"/>
                <a:ea typeface="Arial"/>
                <a:cs typeface="Arial"/>
                <a:sym typeface="Arial"/>
              </a:defRPr>
            </a:lvl1pPr>
          </a:lstStyle>
          <a:p>
            <a:pPr/>
            <a:r>
              <a:t>Disease prediction</a:t>
            </a:r>
          </a:p>
        </p:txBody>
      </p:sp>
      <p:sp>
        <p:nvSpPr>
          <p:cNvPr id="195" name="What does the sampled tissue resemble?"/>
          <p:cNvSpPr txBox="1"/>
          <p:nvPr/>
        </p:nvSpPr>
        <p:spPr>
          <a:xfrm>
            <a:off x="889000" y="6058216"/>
            <a:ext cx="6096000" cy="78309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700">
                <a:solidFill>
                  <a:srgbClr val="1D3F54"/>
                </a:solidFill>
                <a:latin typeface="Arial"/>
                <a:ea typeface="Arial"/>
                <a:cs typeface="Arial"/>
                <a:sym typeface="Arial"/>
              </a:defRPr>
            </a:lvl1pPr>
          </a:lstStyle>
          <a:p>
            <a:pPr/>
            <a:r>
              <a:t>What does the sampled tissue resemble?</a:t>
            </a:r>
          </a:p>
        </p:txBody>
      </p:sp>
      <p:sp>
        <p:nvSpPr>
          <p:cNvPr id="196" name="Review evidence"/>
          <p:cNvSpPr txBox="1"/>
          <p:nvPr/>
        </p:nvSpPr>
        <p:spPr>
          <a:xfrm>
            <a:off x="8890000" y="5234896"/>
            <a:ext cx="6350000" cy="45220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900">
                <a:solidFill>
                  <a:srgbClr val="087F8A"/>
                </a:solidFill>
                <a:latin typeface="Arial"/>
                <a:ea typeface="Arial"/>
                <a:cs typeface="Arial"/>
                <a:sym typeface="Arial"/>
              </a:defRPr>
            </a:lvl1pPr>
          </a:lstStyle>
          <a:p>
            <a:pPr/>
            <a:r>
              <a:t>Review evidence</a:t>
            </a:r>
          </a:p>
        </p:txBody>
      </p:sp>
      <p:sp>
        <p:nvSpPr>
          <p:cNvPr id="197" name="Which component is unusual and consequential, and what uncertainty remains?"/>
          <p:cNvSpPr txBox="1"/>
          <p:nvPr/>
        </p:nvSpPr>
        <p:spPr>
          <a:xfrm>
            <a:off x="8890000" y="5853251"/>
            <a:ext cx="6350000" cy="113854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700">
                <a:solidFill>
                  <a:srgbClr val="1D3F54"/>
                </a:solidFill>
                <a:latin typeface="Arial"/>
                <a:ea typeface="Arial"/>
                <a:cs typeface="Arial"/>
                <a:sym typeface="Arial"/>
              </a:defRPr>
            </a:lvl1pPr>
          </a:lstStyle>
          <a:p>
            <a:pPr/>
            <a:r>
              <a:t>Which component is unusual and consequential, and what uncertainty remains?</a:t>
            </a:r>
          </a:p>
        </p:txBody>
      </p:sp>
      <p:sp>
        <p:nvSpPr>
          <p:cNvPr id="198" name="03"/>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03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120 real slides and 50,729 embeddings"/>
          <p:cNvSpPr txBox="1"/>
          <p:nvPr/>
        </p:nvSpPr>
        <p:spPr>
          <a:xfrm>
            <a:off x="889000" y="1083450"/>
            <a:ext cx="14478000"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120 real slides and 50,729 embeddings</a:t>
            </a:r>
          </a:p>
        </p:txBody>
      </p:sp>
      <p:sp>
        <p:nvSpPr>
          <p:cNvPr id="203" name="40 benign      40 GG1      40 ISUP 4–5"/>
          <p:cNvSpPr txBox="1"/>
          <p:nvPr/>
        </p:nvSpPr>
        <p:spPr>
          <a:xfrm>
            <a:off x="889000" y="1959335"/>
            <a:ext cx="14478000" cy="52633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400">
                <a:solidFill>
                  <a:srgbClr val="087F8A"/>
                </a:solidFill>
                <a:latin typeface="Arial"/>
                <a:ea typeface="Arial"/>
                <a:cs typeface="Arial"/>
                <a:sym typeface="Arial"/>
              </a:defRPr>
            </a:lvl1pPr>
          </a:lstStyle>
          <a:p>
            <a:pPr/>
            <a:r>
              <a:t>40 benign      40 GG1      40 ISUP 4–5</a:t>
            </a:r>
          </a:p>
        </p:txBody>
      </p:sp>
      <p:sp>
        <p:nvSpPr>
          <p:cNvPr id="204" name="72 training      24 calibration      24 held-out"/>
          <p:cNvSpPr txBox="1"/>
          <p:nvPr/>
        </p:nvSpPr>
        <p:spPr>
          <a:xfrm>
            <a:off x="889000" y="3196754"/>
            <a:ext cx="14478000" cy="46449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000">
                <a:solidFill>
                  <a:srgbClr val="1D3F54"/>
                </a:solidFill>
                <a:latin typeface="Arial"/>
                <a:ea typeface="Arial"/>
                <a:cs typeface="Arial"/>
                <a:sym typeface="Arial"/>
              </a:defRPr>
            </a:lvl1pPr>
          </a:lstStyle>
          <a:p>
            <a:pPr/>
            <a:r>
              <a:t>72 training      24 calibration      24 held-out</a:t>
            </a:r>
          </a:p>
        </p:txBody>
      </p:sp>
      <p:sp>
        <p:nvSpPr>
          <p:cNvPr id="205" name="112 µm tissue fields, spatial coordinates and native mask fractions…"/>
          <p:cNvSpPr txBox="1"/>
          <p:nvPr/>
        </p:nvSpPr>
        <p:spPr>
          <a:xfrm>
            <a:off x="889000" y="4556615"/>
            <a:ext cx="14224000" cy="193577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2800">
                <a:solidFill>
                  <a:srgbClr val="1D3F54"/>
                </a:solidFill>
                <a:latin typeface="Arial"/>
                <a:ea typeface="Arial"/>
                <a:cs typeface="Arial"/>
                <a:sym typeface="Arial"/>
              </a:defRPr>
            </a:pPr>
            <a:r>
              <a:t>112 µm tissue fields, spatial coordinates and native mask fractions</a:t>
            </a:r>
          </a:p>
          <a:p>
            <a:pPr>
              <a:defRPr sz="2800">
                <a:solidFill>
                  <a:srgbClr val="1D3F54"/>
                </a:solidFill>
                <a:latin typeface="Arial"/>
                <a:ea typeface="Arial"/>
                <a:cs typeface="Arial"/>
                <a:sym typeface="Arial"/>
              </a:defRPr>
            </a:pPr>
            <a:r>
              <a:t>512-dimensional normalized CONCH v1 embeddings</a:t>
            </a:r>
          </a:p>
          <a:p>
            <a:pPr>
              <a:defRPr sz="2800">
                <a:solidFill>
                  <a:srgbClr val="1D3F54"/>
                </a:solidFill>
                <a:latin typeface="Arial"/>
                <a:ea typeface="Arial"/>
                <a:cs typeface="Arial"/>
                <a:sym typeface="Arial"/>
              </a:defRPr>
            </a:pPr>
            <a:r>
              <a:t>119 usable masks. Distinct slide splits, patient identity unknown.</a:t>
            </a:r>
          </a:p>
        </p:txBody>
      </p:sp>
      <p:sp>
        <p:nvSpPr>
          <p:cNvPr id="206" name="Delta Slurm handled WSI processing and GPU encoding. Subsequent stress tests reuse saved features on CPU."/>
          <p:cNvSpPr txBox="1"/>
          <p:nvPr/>
        </p:nvSpPr>
        <p:spPr>
          <a:xfrm>
            <a:off x="889000" y="7295839"/>
            <a:ext cx="14097000" cy="71182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400">
                <a:solidFill>
                  <a:srgbClr val="6B7A87"/>
                </a:solidFill>
                <a:latin typeface="Arial"/>
                <a:ea typeface="Arial"/>
                <a:cs typeface="Arial"/>
                <a:sym typeface="Arial"/>
              </a:defRPr>
            </a:lvl1pPr>
          </a:lstStyle>
          <a:p>
            <a:pPr/>
            <a:r>
              <a:t>Delta Slurm handled WSI processing and GPU encoding. Subsequent stress tests reuse saved features on CPU.</a:t>
            </a:r>
          </a:p>
        </p:txBody>
      </p:sp>
      <p:sp>
        <p:nvSpPr>
          <p:cNvPr id="207" name="04"/>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04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Clean benign/cancer baseline"/>
          <p:cNvSpPr txBox="1"/>
          <p:nvPr/>
        </p:nvSpPr>
        <p:spPr>
          <a:xfrm>
            <a:off x="889000" y="1083450"/>
            <a:ext cx="14478000"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Clean benign/cancer baseline</a:t>
            </a:r>
          </a:p>
        </p:txBody>
      </p:sp>
      <p:sp>
        <p:nvSpPr>
          <p:cNvPr id="212" name="Frozen top-5% pooling, calibration only"/>
          <p:cNvSpPr txBox="1"/>
          <p:nvPr/>
        </p:nvSpPr>
        <p:spPr>
          <a:xfrm>
            <a:off x="889000" y="1849931"/>
            <a:ext cx="13970001" cy="42763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700">
                <a:solidFill>
                  <a:srgbClr val="087F8A"/>
                </a:solidFill>
                <a:latin typeface="Arial"/>
                <a:ea typeface="Arial"/>
                <a:cs typeface="Arial"/>
                <a:sym typeface="Arial"/>
              </a:defRPr>
            </a:lvl1pPr>
          </a:lstStyle>
          <a:p>
            <a:pPr/>
            <a:r>
              <a:t>Frozen top-5% pooling, calibration only</a:t>
            </a:r>
          </a:p>
        </p:txBody>
      </p:sp>
      <p:graphicFrame>
        <p:nvGraphicFramePr>
          <p:cNvPr id="213" name="Table 1"/>
          <p:cNvGraphicFramePr/>
          <p:nvPr/>
        </p:nvGraphicFramePr>
        <p:xfrm>
          <a:off x="889000" y="2984500"/>
          <a:ext cx="4854223" cy="4967112"/>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4064000"/>
                <a:gridCol w="2603500"/>
                <a:gridCol w="2603500"/>
              </a:tblGrid>
              <a:tr h="1016000">
                <a:tc>
                  <a:txBody>
                    <a:bodyPr/>
                    <a:lstStyle/>
                    <a:p>
                      <a:pPr defTabSz="914400">
                        <a:tabLst>
                          <a:tab pos="1104900" algn="l"/>
                        </a:tabLst>
                        <a:defRPr b="0" sz="1800"/>
                      </a:pPr>
                      <a:r>
                        <a:rPr b="1" sz="2700">
                          <a:solidFill>
                            <a:srgbClr val="FFFFFF"/>
                          </a:solidFill>
                          <a:latin typeface="Arial"/>
                          <a:ea typeface="Arial"/>
                          <a:cs typeface="Arial"/>
                          <a:sym typeface="Arial"/>
                        </a:rPr>
                        <a:t>Original slide label</a:t>
                      </a:r>
                    </a:p>
                  </a:txBody>
                  <a:tcPr marL="50800" marR="50800" marT="50800" marB="50800" anchor="ctr" anchorCtr="0" horzOverflow="overflow">
                    <a:solidFill>
                      <a:srgbClr val="087F8A"/>
                    </a:solidFill>
                  </a:tcPr>
                </a:tc>
                <a:tc>
                  <a:txBody>
                    <a:bodyPr/>
                    <a:lstStyle/>
                    <a:p>
                      <a:pPr defTabSz="914400">
                        <a:tabLst>
                          <a:tab pos="1104900" algn="l"/>
                        </a:tabLst>
                        <a:defRPr b="0" sz="1800"/>
                      </a:pPr>
                      <a:r>
                        <a:rPr b="1" sz="2700">
                          <a:solidFill>
                            <a:srgbClr val="FFFFFF"/>
                          </a:solidFill>
                          <a:latin typeface="Arial"/>
                          <a:ea typeface="Arial"/>
                          <a:cs typeface="Arial"/>
                          <a:sym typeface="Arial"/>
                        </a:rPr>
                        <a:t>Predicted benign</a:t>
                      </a:r>
                    </a:p>
                  </a:txBody>
                  <a:tcPr marL="50800" marR="50800" marT="50800" marB="50800" anchor="ctr" anchorCtr="0" horzOverflow="overflow">
                    <a:solidFill>
                      <a:srgbClr val="087F8A"/>
                    </a:solidFill>
                  </a:tcPr>
                </a:tc>
                <a:tc>
                  <a:txBody>
                    <a:bodyPr/>
                    <a:lstStyle/>
                    <a:p>
                      <a:pPr defTabSz="914400">
                        <a:tabLst>
                          <a:tab pos="1104900" algn="l"/>
                        </a:tabLst>
                        <a:defRPr b="0" sz="1800"/>
                      </a:pPr>
                      <a:r>
                        <a:rPr b="1" sz="2700">
                          <a:solidFill>
                            <a:srgbClr val="FFFFFF"/>
                          </a:solidFill>
                          <a:latin typeface="Arial"/>
                          <a:ea typeface="Arial"/>
                          <a:cs typeface="Arial"/>
                          <a:sym typeface="Arial"/>
                        </a:rPr>
                        <a:t>Predicted cancer</a:t>
                      </a:r>
                    </a:p>
                  </a:txBody>
                  <a:tcPr marL="50800" marR="50800" marT="50800" marB="50800" anchor="ctr" anchorCtr="0" horzOverflow="overflow">
                    <a:solidFill>
                      <a:srgbClr val="087F8A"/>
                    </a:solidFill>
                  </a:tcPr>
                </a:tc>
              </a:tr>
              <a:tr h="1016000">
                <a:tc>
                  <a:txBody>
                    <a:bodyPr/>
                    <a:lstStyle/>
                    <a:p>
                      <a:pPr defTabSz="914400">
                        <a:defRPr sz="1800"/>
                      </a:pPr>
                      <a:r>
                        <a:rPr sz="2700">
                          <a:solidFill>
                            <a:srgbClr val="1D3F54"/>
                          </a:solidFill>
                          <a:latin typeface="Arial"/>
                          <a:ea typeface="Arial"/>
                          <a:cs typeface="Arial"/>
                          <a:sym typeface="Arial"/>
                        </a:rPr>
                        <a:t>Benign</a:t>
                      </a:r>
                    </a:p>
                  </a:txBody>
                  <a:tcPr marL="50800" marR="50800" marT="50800" marB="50800" anchor="ctr" anchorCtr="0" horzOverflow="overflow">
                    <a:solidFill>
                      <a:srgbClr val="FFFFFF"/>
                    </a:solidFill>
                  </a:tcPr>
                </a:tc>
                <a:tc>
                  <a:txBody>
                    <a:bodyPr/>
                    <a:lstStyle/>
                    <a:p>
                      <a:pPr defTabSz="914400">
                        <a:defRPr sz="1800"/>
                      </a:pPr>
                      <a:r>
                        <a:rPr sz="2700">
                          <a:solidFill>
                            <a:srgbClr val="1D3F54"/>
                          </a:solidFill>
                          <a:latin typeface="Arial"/>
                          <a:ea typeface="Arial"/>
                          <a:cs typeface="Arial"/>
                          <a:sym typeface="Arial"/>
                        </a:rPr>
                        <a:t>5</a:t>
                      </a:r>
                    </a:p>
                  </a:txBody>
                  <a:tcPr marL="50800" marR="50800" marT="50800" marB="50800" anchor="ctr" anchorCtr="0" horzOverflow="overflow">
                    <a:solidFill>
                      <a:srgbClr val="FFFFFF"/>
                    </a:solidFill>
                  </a:tcPr>
                </a:tc>
                <a:tc>
                  <a:txBody>
                    <a:bodyPr/>
                    <a:lstStyle/>
                    <a:p>
                      <a:pPr defTabSz="914400">
                        <a:defRPr sz="1800"/>
                      </a:pPr>
                      <a:r>
                        <a:rPr sz="2700">
                          <a:solidFill>
                            <a:srgbClr val="1D3F54"/>
                          </a:solidFill>
                          <a:latin typeface="Arial"/>
                          <a:ea typeface="Arial"/>
                          <a:cs typeface="Arial"/>
                          <a:sym typeface="Arial"/>
                        </a:rPr>
                        <a:t>3</a:t>
                      </a:r>
                    </a:p>
                  </a:txBody>
                  <a:tcPr marL="50800" marR="50800" marT="50800" marB="50800" anchor="ctr" anchorCtr="0" horzOverflow="overflow">
                    <a:solidFill>
                      <a:srgbClr val="FFFFFF"/>
                    </a:solidFill>
                  </a:tcPr>
                </a:tc>
              </a:tr>
              <a:tr h="1016000">
                <a:tc>
                  <a:txBody>
                    <a:bodyPr/>
                    <a:lstStyle/>
                    <a:p>
                      <a:pPr defTabSz="914400">
                        <a:defRPr sz="1800"/>
                      </a:pPr>
                      <a:r>
                        <a:rPr sz="2700">
                          <a:solidFill>
                            <a:srgbClr val="1D3F54"/>
                          </a:solidFill>
                          <a:latin typeface="Arial"/>
                          <a:ea typeface="Arial"/>
                          <a:cs typeface="Arial"/>
                          <a:sym typeface="Arial"/>
                        </a:rPr>
                        <a:t>Cancer</a:t>
                      </a:r>
                    </a:p>
                  </a:txBody>
                  <a:tcPr marL="50800" marR="50800" marT="50800" marB="50800" anchor="ctr" anchorCtr="0" horzOverflow="overflow">
                    <a:solidFill>
                      <a:srgbClr val="FFFFFF"/>
                    </a:solidFill>
                  </a:tcPr>
                </a:tc>
                <a:tc>
                  <a:txBody>
                    <a:bodyPr/>
                    <a:lstStyle/>
                    <a:p>
                      <a:pPr defTabSz="914400">
                        <a:defRPr sz="1800"/>
                      </a:pPr>
                      <a:r>
                        <a:rPr sz="2700">
                          <a:solidFill>
                            <a:srgbClr val="1D3F54"/>
                          </a:solidFill>
                          <a:latin typeface="Arial"/>
                          <a:ea typeface="Arial"/>
                          <a:cs typeface="Arial"/>
                          <a:sym typeface="Arial"/>
                        </a:rPr>
                        <a:t>1</a:t>
                      </a:r>
                    </a:p>
                  </a:txBody>
                  <a:tcPr marL="50800" marR="50800" marT="50800" marB="50800" anchor="ctr" anchorCtr="0" horzOverflow="overflow">
                    <a:solidFill>
                      <a:srgbClr val="FFFFFF"/>
                    </a:solidFill>
                  </a:tcPr>
                </a:tc>
                <a:tc>
                  <a:txBody>
                    <a:bodyPr/>
                    <a:lstStyle/>
                    <a:p>
                      <a:pPr defTabSz="914400">
                        <a:defRPr sz="1800"/>
                      </a:pPr>
                      <a:r>
                        <a:rPr sz="2700">
                          <a:solidFill>
                            <a:srgbClr val="1D3F54"/>
                          </a:solidFill>
                          <a:latin typeface="Arial"/>
                          <a:ea typeface="Arial"/>
                          <a:cs typeface="Arial"/>
                          <a:sym typeface="Arial"/>
                        </a:rPr>
                        <a:t>15</a:t>
                      </a:r>
                    </a:p>
                  </a:txBody>
                  <a:tcPr marL="50800" marR="50800" marT="50800" marB="50800" anchor="ctr" anchorCtr="0" horzOverflow="overflow">
                    <a:solidFill>
                      <a:srgbClr val="FFFFFF"/>
                    </a:solidFill>
                  </a:tcPr>
                </a:tc>
              </a:tr>
            </a:tbl>
          </a:graphicData>
        </a:graphic>
      </p:graphicFrame>
      <p:sp>
        <p:nvSpPr>
          <p:cNvPr id="214" name="20 / 24"/>
          <p:cNvSpPr txBox="1"/>
          <p:nvPr/>
        </p:nvSpPr>
        <p:spPr>
          <a:xfrm>
            <a:off x="11049000" y="3105866"/>
            <a:ext cx="4191000" cy="77326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5100">
                <a:solidFill>
                  <a:srgbClr val="1D3F54"/>
                </a:solidFill>
                <a:latin typeface="Arial"/>
                <a:ea typeface="Arial"/>
                <a:cs typeface="Arial"/>
                <a:sym typeface="Arial"/>
              </a:defRPr>
            </a:lvl1pPr>
          </a:lstStyle>
          <a:p>
            <a:pPr/>
            <a:r>
              <a:t>20 / 24</a:t>
            </a:r>
          </a:p>
        </p:txBody>
      </p:sp>
      <p:sp>
        <p:nvSpPr>
          <p:cNvPr id="215" name="Accuracy 83.3%…"/>
          <p:cNvSpPr txBox="1"/>
          <p:nvPr/>
        </p:nvSpPr>
        <p:spPr>
          <a:xfrm>
            <a:off x="11048999" y="4280216"/>
            <a:ext cx="4191001" cy="116409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2700">
                <a:solidFill>
                  <a:srgbClr val="1D3F54"/>
                </a:solidFill>
                <a:latin typeface="Arial"/>
                <a:ea typeface="Arial"/>
                <a:cs typeface="Arial"/>
                <a:sym typeface="Arial"/>
              </a:defRPr>
            </a:pPr>
            <a:r>
              <a:t>Accuracy 83.3%</a:t>
            </a:r>
          </a:p>
          <a:p>
            <a:pPr>
              <a:defRPr sz="2700">
                <a:solidFill>
                  <a:srgbClr val="1D3F54"/>
                </a:solidFill>
                <a:latin typeface="Arial"/>
                <a:ea typeface="Arial"/>
                <a:cs typeface="Arial"/>
                <a:sym typeface="Arial"/>
              </a:defRPr>
            </a:pPr>
            <a:r>
              <a:t>Balanced accuracy 78.1%</a:t>
            </a:r>
          </a:p>
        </p:txBody>
      </p:sp>
      <p:sp>
        <p:nvSpPr>
          <p:cNvPr id="216" name="Only 5 of 8 benign hosts start correct. New contamination errors must use those five as the denominator."/>
          <p:cNvSpPr txBox="1"/>
          <p:nvPr/>
        </p:nvSpPr>
        <p:spPr>
          <a:xfrm>
            <a:off x="889000" y="7089577"/>
            <a:ext cx="14224000" cy="80684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800">
                <a:solidFill>
                  <a:srgbClr val="B3781B"/>
                </a:solidFill>
                <a:latin typeface="Arial"/>
                <a:ea typeface="Arial"/>
                <a:cs typeface="Arial"/>
                <a:sym typeface="Arial"/>
              </a:defRPr>
            </a:lvl1pPr>
          </a:lstStyle>
          <a:p>
            <a:pPr/>
            <a:r>
              <a:t>Only 5 of 8 benign hosts start correct. New contamination errors must use those five as the denominator.</a:t>
            </a:r>
          </a:p>
        </p:txBody>
      </p:sp>
      <p:sp>
        <p:nvSpPr>
          <p:cNvPr id="217" name="05"/>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05</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S1: a controlled cancer-fragment stress test"/>
          <p:cNvSpPr txBox="1"/>
          <p:nvPr/>
        </p:nvSpPr>
        <p:spPr>
          <a:xfrm>
            <a:off x="889000" y="1083450"/>
            <a:ext cx="14478000"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S1: a controlled cancer-fragment stress test</a:t>
            </a:r>
          </a:p>
        </p:txBody>
      </p:sp>
      <p:sp>
        <p:nvSpPr>
          <p:cNvPr id="222" name="32 benign host slides, 21 reused donor slides"/>
          <p:cNvSpPr txBox="1"/>
          <p:nvPr/>
        </p:nvSpPr>
        <p:spPr>
          <a:xfrm>
            <a:off x="889000" y="1965477"/>
            <a:ext cx="14351000" cy="51404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300">
                <a:solidFill>
                  <a:srgbClr val="1D3F54"/>
                </a:solidFill>
                <a:latin typeface="Arial"/>
                <a:ea typeface="Arial"/>
                <a:cs typeface="Arial"/>
                <a:sym typeface="Arial"/>
              </a:defRPr>
            </a:lvl1pPr>
          </a:lstStyle>
          <a:p>
            <a:pPr/>
            <a:r>
              <a:t>32 benign host slides, 21 reused donor slides</a:t>
            </a:r>
          </a:p>
        </p:txBody>
      </p:sp>
      <p:sp>
        <p:nvSpPr>
          <p:cNvPr id="223" name="192 trials across 0, 0.5, 1, 2, 5 and 10% doses…"/>
          <p:cNvSpPr txBox="1"/>
          <p:nvPr/>
        </p:nvSpPr>
        <p:spPr>
          <a:xfrm>
            <a:off x="889000" y="3362949"/>
            <a:ext cx="14224000" cy="121160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2900">
                <a:solidFill>
                  <a:srgbClr val="1D3F54"/>
                </a:solidFill>
                <a:latin typeface="Arial"/>
                <a:ea typeface="Arial"/>
                <a:cs typeface="Arial"/>
                <a:sym typeface="Arial"/>
              </a:defRPr>
            </a:pPr>
            <a:r>
              <a:t>192 trials across 0, 0.5, 1, 2, 5 and 10% doses</a:t>
            </a:r>
          </a:p>
          <a:p>
            <a:pPr>
              <a:defRPr sz="2900">
                <a:solidFill>
                  <a:srgbClr val="1D3F54"/>
                </a:solidFill>
                <a:latin typeface="Arial"/>
                <a:ea typeface="Arial"/>
                <a:cs typeface="Arial"/>
                <a:sym typeface="Arial"/>
              </a:defRPr>
            </a:pPr>
            <a:r>
              <a:t>Dose = injected tiles / original host tiles, rounded up</a:t>
            </a:r>
          </a:p>
        </p:txBody>
      </p:sp>
      <p:sp>
        <p:nvSpPr>
          <p:cNvPr id="224" name="Each donor fragment uses unique four-connected saved tiles with ≥10% native cancer annotation per tile."/>
          <p:cNvSpPr txBox="1"/>
          <p:nvPr/>
        </p:nvSpPr>
        <p:spPr>
          <a:xfrm>
            <a:off x="889000" y="5565577"/>
            <a:ext cx="14224000" cy="80684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800">
                <a:solidFill>
                  <a:srgbClr val="1D3F54"/>
                </a:solidFill>
                <a:latin typeface="Arial"/>
                <a:ea typeface="Arial"/>
                <a:cs typeface="Arial"/>
                <a:sym typeface="Arial"/>
              </a:defRPr>
            </a:lvl1pPr>
          </a:lstStyle>
          <a:p>
            <a:pPr/>
            <a:r>
              <a:t>Each donor fragment uses unique four-connected saved tiles with ≥10% native cancer annotation per tile.</a:t>
            </a:r>
          </a:p>
        </p:txBody>
      </p:sp>
      <p:sp>
        <p:nvSpPr>
          <p:cNvPr id="225" name="Synthetic embedding mixtures and translated placement. No assertion of natural floaters or independent patients."/>
          <p:cNvSpPr txBox="1"/>
          <p:nvPr/>
        </p:nvSpPr>
        <p:spPr>
          <a:xfrm>
            <a:off x="889000" y="7402967"/>
            <a:ext cx="14224000" cy="68806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300">
                <a:solidFill>
                  <a:srgbClr val="B3781B"/>
                </a:solidFill>
                <a:latin typeface="Arial"/>
                <a:ea typeface="Arial"/>
                <a:cs typeface="Arial"/>
                <a:sym typeface="Arial"/>
              </a:defRPr>
            </a:lvl1pPr>
          </a:lstStyle>
          <a:p>
            <a:pPr/>
            <a:r>
              <a:t>Synthetic embedding mixtures and translated placement. No assertion of natural floaters or independent patients.</a:t>
            </a:r>
          </a:p>
        </p:txBody>
      </p:sp>
      <p:sp>
        <p:nvSpPr>
          <p:cNvPr id="226" name="06"/>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06</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Small fragments can change the prediction"/>
          <p:cNvSpPr txBox="1"/>
          <p:nvPr/>
        </p:nvSpPr>
        <p:spPr>
          <a:xfrm>
            <a:off x="889000" y="1083450"/>
            <a:ext cx="14478000"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Small fragments can change the prediction</a:t>
            </a:r>
          </a:p>
        </p:txBody>
      </p:sp>
      <p:graphicFrame>
        <p:nvGraphicFramePr>
          <p:cNvPr id="231" name="2D Line Chart"/>
          <p:cNvGraphicFramePr/>
          <p:nvPr/>
        </p:nvGraphicFramePr>
        <p:xfrm>
          <a:off x="42838" y="1633423"/>
          <a:ext cx="10342359" cy="5957354"/>
        </p:xfrm>
        <a:graphic xmlns:a="http://schemas.openxmlformats.org/drawingml/2006/main">
          <a:graphicData uri="http://schemas.openxmlformats.org/drawingml/2006/chart">
            <c:chart xmlns:c="http://schemas.openxmlformats.org/drawingml/2006/chart" r:id="rId3"/>
          </a:graphicData>
        </a:graphic>
      </p:graphicFrame>
      <p:sp>
        <p:nvSpPr>
          <p:cNvPr id="232" name="Top-5% new errors"/>
          <p:cNvSpPr txBox="1"/>
          <p:nvPr/>
        </p:nvSpPr>
        <p:spPr>
          <a:xfrm>
            <a:off x="10858500" y="2186896"/>
            <a:ext cx="4445000" cy="45220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900">
                <a:solidFill>
                  <a:srgbClr val="087F8A"/>
                </a:solidFill>
                <a:latin typeface="Arial"/>
                <a:ea typeface="Arial"/>
                <a:cs typeface="Arial"/>
                <a:sym typeface="Arial"/>
              </a:defRPr>
            </a:lvl1pPr>
          </a:lstStyle>
          <a:p>
            <a:pPr/>
            <a:r>
              <a:t>Top-5% new errors</a:t>
            </a:r>
          </a:p>
        </p:txBody>
      </p:sp>
      <p:sp>
        <p:nvSpPr>
          <p:cNvPr id="233" name="1/5, 1/5, 2/5, 2/5, 2/5"/>
          <p:cNvSpPr txBox="1"/>
          <p:nvPr/>
        </p:nvSpPr>
        <p:spPr>
          <a:xfrm>
            <a:off x="10858500" y="3647396"/>
            <a:ext cx="4445001" cy="45220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900">
                <a:solidFill>
                  <a:srgbClr val="1D3F54"/>
                </a:solidFill>
                <a:latin typeface="Arial"/>
                <a:ea typeface="Arial"/>
                <a:cs typeface="Arial"/>
                <a:sym typeface="Arial"/>
              </a:defRPr>
            </a:lvl1pPr>
          </a:lstStyle>
          <a:p>
            <a:pPr/>
            <a:r>
              <a:t>1/5, 1/5, 2/5, 2/5, 2/5</a:t>
            </a:r>
          </a:p>
        </p:txBody>
      </p:sp>
      <p:sp>
        <p:nvSpPr>
          <p:cNvPr id="234" name="Originally correct benign hosts…"/>
          <p:cNvSpPr txBox="1"/>
          <p:nvPr/>
        </p:nvSpPr>
        <p:spPr>
          <a:xfrm>
            <a:off x="10858500" y="4268739"/>
            <a:ext cx="4445000" cy="106906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2300">
                <a:solidFill>
                  <a:srgbClr val="1D3F54"/>
                </a:solidFill>
                <a:latin typeface="Arial"/>
                <a:ea typeface="Arial"/>
                <a:cs typeface="Arial"/>
                <a:sym typeface="Arial"/>
              </a:defRPr>
            </a:pPr>
            <a:r>
              <a:t>Originally correct benign hosts</a:t>
            </a:r>
          </a:p>
          <a:p>
            <a:pPr>
              <a:defRPr sz="2300">
                <a:solidFill>
                  <a:srgbClr val="1D3F54"/>
                </a:solidFill>
                <a:latin typeface="Arial"/>
                <a:ea typeface="Arial"/>
                <a:cs typeface="Arial"/>
                <a:sym typeface="Arial"/>
              </a:defRPr>
            </a:pPr>
            <a:r>
              <a:t>Doses 0.5 / 1 / 2 / 5 / 10%</a:t>
            </a:r>
          </a:p>
        </p:txBody>
      </p:sp>
      <p:sp>
        <p:nvSpPr>
          <p:cNvPr id="235" name="8 error instances across…"/>
          <p:cNvSpPr txBox="1"/>
          <p:nvPr/>
        </p:nvSpPr>
        <p:spPr>
          <a:xfrm>
            <a:off x="10858500" y="6304222"/>
            <a:ext cx="4445000" cy="111657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b="1" sz="2500">
                <a:solidFill>
                  <a:srgbClr val="B3781B"/>
                </a:solidFill>
                <a:latin typeface="Arial"/>
                <a:ea typeface="Arial"/>
                <a:cs typeface="Arial"/>
                <a:sym typeface="Arial"/>
              </a:defRPr>
            </a:pPr>
            <a:r>
              <a:t>8 error instances across</a:t>
            </a:r>
          </a:p>
          <a:p>
            <a:pPr>
              <a:defRPr b="1" sz="2500">
                <a:solidFill>
                  <a:srgbClr val="B3781B"/>
                </a:solidFill>
                <a:latin typeface="Arial"/>
                <a:ea typeface="Arial"/>
                <a:cs typeface="Arial"/>
                <a:sym typeface="Arial"/>
              </a:defRPr>
            </a:pPr>
            <a:r>
              <a:t>2 unique calibration hosts</a:t>
            </a:r>
          </a:p>
        </p:txBody>
      </p:sp>
      <p:sp>
        <p:nvSpPr>
          <p:cNvPr id="236" name="Mean"/>
          <p:cNvSpPr txBox="1"/>
          <p:nvPr/>
        </p:nvSpPr>
        <p:spPr>
          <a:xfrm>
            <a:off x="1397000" y="7748250"/>
            <a:ext cx="2159000" cy="3785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300">
                <a:solidFill>
                  <a:srgbClr val="0099DA"/>
                </a:solidFill>
                <a:latin typeface="Arial"/>
                <a:ea typeface="Arial"/>
                <a:cs typeface="Arial"/>
                <a:sym typeface="Arial"/>
              </a:defRPr>
            </a:lvl1pPr>
          </a:lstStyle>
          <a:p>
            <a:pPr/>
            <a:r>
              <a:t>Mean</a:t>
            </a:r>
          </a:p>
        </p:txBody>
      </p:sp>
      <p:sp>
        <p:nvSpPr>
          <p:cNvPr id="237" name="Top 1%"/>
          <p:cNvSpPr txBox="1"/>
          <p:nvPr/>
        </p:nvSpPr>
        <p:spPr>
          <a:xfrm>
            <a:off x="4190999" y="7748250"/>
            <a:ext cx="2286001" cy="3785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300">
                <a:solidFill>
                  <a:srgbClr val="459825"/>
                </a:solidFill>
                <a:latin typeface="Arial"/>
                <a:ea typeface="Arial"/>
                <a:cs typeface="Arial"/>
                <a:sym typeface="Arial"/>
              </a:defRPr>
            </a:lvl1pPr>
          </a:lstStyle>
          <a:p>
            <a:pPr/>
            <a:r>
              <a:t>Top 1%</a:t>
            </a:r>
          </a:p>
        </p:txBody>
      </p:sp>
      <p:sp>
        <p:nvSpPr>
          <p:cNvPr id="238" name="Top 5%"/>
          <p:cNvSpPr txBox="1"/>
          <p:nvPr/>
        </p:nvSpPr>
        <p:spPr>
          <a:xfrm>
            <a:off x="7239000" y="7748250"/>
            <a:ext cx="2286000" cy="3785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300">
                <a:solidFill>
                  <a:srgbClr val="878787"/>
                </a:solidFill>
                <a:latin typeface="Arial"/>
                <a:ea typeface="Arial"/>
                <a:cs typeface="Arial"/>
                <a:sym typeface="Arial"/>
              </a:defRPr>
            </a:lvl1pPr>
          </a:lstStyle>
          <a:p>
            <a:pPr/>
            <a:r>
              <a:t>Top 5%</a:t>
            </a:r>
          </a:p>
        </p:txBody>
      </p:sp>
      <p:sp>
        <p:nvSpPr>
          <p:cNvPr id="239" name="Y: prediction changes (% of 8 calibration hosts). X: requested dose categories (%)"/>
          <p:cNvSpPr txBox="1"/>
          <p:nvPr/>
        </p:nvSpPr>
        <p:spPr>
          <a:xfrm>
            <a:off x="1016000" y="8145214"/>
            <a:ext cx="9271000" cy="29209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700">
                <a:solidFill>
                  <a:srgbClr val="6B7A87"/>
                </a:solidFill>
                <a:latin typeface="Arial"/>
                <a:ea typeface="Arial"/>
                <a:cs typeface="Arial"/>
                <a:sym typeface="Arial"/>
              </a:defRPr>
            </a:lvl1pPr>
          </a:lstStyle>
          <a:p>
            <a:pPr/>
            <a:r>
              <a:t>Y: prediction changes (% of 8 calibration hosts). X: requested dose categories (%)</a:t>
            </a:r>
          </a:p>
        </p:txBody>
      </p:sp>
      <p:sp>
        <p:nvSpPr>
          <p:cNvPr id="240" name="07"/>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07</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Known synthetic donor component"/>
          <p:cNvSpPr txBox="1"/>
          <p:nvPr/>
        </p:nvSpPr>
        <p:spPr>
          <a:xfrm>
            <a:off x="889000" y="1083450"/>
            <a:ext cx="14478001"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Known synthetic donor component</a:t>
            </a:r>
          </a:p>
        </p:txBody>
      </p:sp>
      <p:pic>
        <p:nvPicPr>
          <p:cNvPr id="245" name="known_synthetic_component.png" descr="known_synthetic_component.png"/>
          <p:cNvPicPr>
            <a:picLocks noChangeAspect="1"/>
          </p:cNvPicPr>
          <p:nvPr/>
        </p:nvPicPr>
        <p:blipFill>
          <a:blip r:embed="rId3">
            <a:extLst/>
          </a:blip>
          <a:stretch>
            <a:fillRect/>
          </a:stretch>
        </p:blipFill>
        <p:spPr>
          <a:xfrm>
            <a:off x="1663700" y="1841499"/>
            <a:ext cx="6318898" cy="5842001"/>
          </a:xfrm>
          <a:prstGeom prst="rect">
            <a:avLst/>
          </a:prstGeom>
          <a:ln w="3175">
            <a:miter lim="400000"/>
          </a:ln>
        </p:spPr>
      </p:pic>
      <p:sp>
        <p:nvSpPr>
          <p:cNvPr id="246" name="3 donor tiles"/>
          <p:cNvSpPr txBox="1"/>
          <p:nvPr/>
        </p:nvSpPr>
        <p:spPr>
          <a:xfrm>
            <a:off x="9779000" y="2258408"/>
            <a:ext cx="5461001" cy="56318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700">
                <a:solidFill>
                  <a:srgbClr val="087F8A"/>
                </a:solidFill>
                <a:latin typeface="Arial"/>
                <a:ea typeface="Arial"/>
                <a:cs typeface="Arial"/>
                <a:sym typeface="Arial"/>
              </a:defRPr>
            </a:lvl1pPr>
          </a:lstStyle>
          <a:p>
            <a:pPr/>
            <a:r>
              <a:t>3 donor tiles</a:t>
            </a:r>
          </a:p>
        </p:txBody>
      </p:sp>
      <p:sp>
        <p:nvSpPr>
          <p:cNvPr id="247" name="0.0375 mm² injected footprint…"/>
          <p:cNvSpPr txBox="1"/>
          <p:nvPr/>
        </p:nvSpPr>
        <p:spPr>
          <a:xfrm>
            <a:off x="9778999" y="3533577"/>
            <a:ext cx="5461001" cy="118784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2800">
                <a:solidFill>
                  <a:srgbClr val="1D3F54"/>
                </a:solidFill>
                <a:latin typeface="Arial"/>
                <a:ea typeface="Arial"/>
                <a:cs typeface="Arial"/>
                <a:sym typeface="Arial"/>
              </a:defRPr>
            </a:pPr>
            <a:r>
              <a:t>0.0375 mm² injected footprint</a:t>
            </a:r>
          </a:p>
          <a:p>
            <a:pPr>
              <a:defRPr sz="2800">
                <a:solidFill>
                  <a:srgbClr val="1D3F54"/>
                </a:solidFill>
                <a:latin typeface="Arial"/>
                <a:ea typeface="Arial"/>
                <a:cs typeface="Arial"/>
                <a:sym typeface="Arial"/>
              </a:defRPr>
            </a:pPr>
            <a:r>
              <a:t>428 original host tiles</a:t>
            </a:r>
          </a:p>
        </p:txBody>
      </p:sp>
      <p:sp>
        <p:nvSpPr>
          <p:cNvPr id="248" name="Cancer before exclusion…"/>
          <p:cNvSpPr txBox="1"/>
          <p:nvPr/>
        </p:nvSpPr>
        <p:spPr>
          <a:xfrm>
            <a:off x="9779000" y="5446571"/>
            <a:ext cx="5461000" cy="123535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b="1" sz="3000">
                <a:solidFill>
                  <a:srgbClr val="1D3F54"/>
                </a:solidFill>
                <a:latin typeface="Arial"/>
                <a:ea typeface="Arial"/>
                <a:cs typeface="Arial"/>
                <a:sym typeface="Arial"/>
              </a:defRPr>
            </a:pPr>
            <a:r>
              <a:t>Cancer before exclusion</a:t>
            </a:r>
          </a:p>
          <a:p>
            <a:pPr>
              <a:defRPr b="1" sz="3000">
                <a:solidFill>
                  <a:srgbClr val="1D3F54"/>
                </a:solidFill>
                <a:latin typeface="Arial"/>
                <a:ea typeface="Arial"/>
                <a:cs typeface="Arial"/>
                <a:sym typeface="Arial"/>
              </a:defRPr>
            </a:pPr>
            <a:r>
              <a:t>Benign after exclusion</a:t>
            </a:r>
          </a:p>
        </p:txBody>
      </p:sp>
      <p:sp>
        <p:nvSpPr>
          <p:cNvPr id="249" name="Known injection in a saved-feature mixture. These are tile footprints, not a microscopy composite."/>
          <p:cNvSpPr txBox="1"/>
          <p:nvPr/>
        </p:nvSpPr>
        <p:spPr>
          <a:xfrm>
            <a:off x="889000" y="8116134"/>
            <a:ext cx="14224000" cy="34123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100">
                <a:solidFill>
                  <a:srgbClr val="6B7A87"/>
                </a:solidFill>
                <a:latin typeface="Arial"/>
                <a:ea typeface="Arial"/>
                <a:cs typeface="Arial"/>
                <a:sym typeface="Arial"/>
              </a:defRPr>
            </a:lvl1pPr>
          </a:lstStyle>
          <a:p>
            <a:pPr/>
            <a:r>
              <a:t>Known injection in a saved-feature mixture. These are tile footprints, not a microscopy composite.</a:t>
            </a:r>
          </a:p>
        </p:txBody>
      </p:sp>
      <p:sp>
        <p:nvSpPr>
          <p:cNvPr id="250" name="08"/>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08</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Genuine cancer can also change the decision"/>
          <p:cNvSpPr txBox="1"/>
          <p:nvPr/>
        </p:nvSpPr>
        <p:spPr>
          <a:xfrm>
            <a:off x="889000" y="1083450"/>
            <a:ext cx="14478000"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Genuine cancer can also change the decision</a:t>
            </a:r>
          </a:p>
        </p:txBody>
      </p:sp>
      <p:pic>
        <p:nvPicPr>
          <p:cNvPr id="255" name="genuine_native_component.png" descr="genuine_native_component.png"/>
          <p:cNvPicPr>
            <a:picLocks noChangeAspect="1"/>
          </p:cNvPicPr>
          <p:nvPr/>
        </p:nvPicPr>
        <p:blipFill>
          <a:blip r:embed="rId3">
            <a:extLst/>
          </a:blip>
          <a:stretch>
            <a:fillRect/>
          </a:stretch>
        </p:blipFill>
        <p:spPr>
          <a:xfrm>
            <a:off x="1549400" y="1841500"/>
            <a:ext cx="6557347" cy="5842000"/>
          </a:xfrm>
          <a:prstGeom prst="rect">
            <a:avLst/>
          </a:prstGeom>
          <a:ln w="3175">
            <a:miter lim="400000"/>
          </a:ln>
        </p:spPr>
      </p:pic>
      <p:sp>
        <p:nvSpPr>
          <p:cNvPr id="256" name="Native annotated cancer"/>
          <p:cNvSpPr txBox="1"/>
          <p:nvPr/>
        </p:nvSpPr>
        <p:spPr>
          <a:xfrm>
            <a:off x="9779000" y="2467335"/>
            <a:ext cx="5461000" cy="52633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400">
                <a:solidFill>
                  <a:srgbClr val="B3781B"/>
                </a:solidFill>
                <a:latin typeface="Arial"/>
                <a:ea typeface="Arial"/>
                <a:cs typeface="Arial"/>
                <a:sym typeface="Arial"/>
              </a:defRPr>
            </a:lvl1pPr>
          </a:lstStyle>
          <a:p>
            <a:pPr/>
            <a:r>
              <a:t>Native annotated cancer</a:t>
            </a:r>
          </a:p>
        </p:txBody>
      </p:sp>
      <p:sp>
        <p:nvSpPr>
          <p:cNvPr id="257" name="0.171 mm² annotation within…"/>
          <p:cNvSpPr txBox="1"/>
          <p:nvPr/>
        </p:nvSpPr>
        <p:spPr>
          <a:xfrm>
            <a:off x="9779000" y="3435740"/>
            <a:ext cx="5461000" cy="190054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2700">
                <a:solidFill>
                  <a:srgbClr val="1D3F54"/>
                </a:solidFill>
                <a:latin typeface="Arial"/>
                <a:ea typeface="Arial"/>
                <a:cs typeface="Arial"/>
                <a:sym typeface="Arial"/>
              </a:defRPr>
            </a:pPr>
            <a:r>
              <a:t>0.171 mm² annotation within</a:t>
            </a:r>
          </a:p>
          <a:p>
            <a:pPr>
              <a:defRPr sz="2700">
                <a:solidFill>
                  <a:srgbClr val="1D3F54"/>
                </a:solidFill>
                <a:latin typeface="Arial"/>
                <a:ea typeface="Arial"/>
                <a:cs typeface="Arial"/>
                <a:sym typeface="Arial"/>
              </a:defRPr>
            </a:pPr>
            <a:r>
              <a:t>a 5.439 mm² sampled footprint</a:t>
            </a:r>
          </a:p>
          <a:p>
            <a:pPr>
              <a:defRPr sz="2700">
                <a:solidFill>
                  <a:srgbClr val="1D3F54"/>
                </a:solidFill>
                <a:latin typeface="Arial"/>
                <a:ea typeface="Arial"/>
                <a:cs typeface="Arial"/>
                <a:sym typeface="Arial"/>
              </a:defRPr>
            </a:pPr>
            <a:r>
              <a:t>435 tiles in this component</a:t>
            </a:r>
          </a:p>
        </p:txBody>
      </p:sp>
      <p:sp>
        <p:nvSpPr>
          <p:cNvPr id="258" name="Cancer before exclusion…"/>
          <p:cNvSpPr txBox="1"/>
          <p:nvPr/>
        </p:nvSpPr>
        <p:spPr>
          <a:xfrm>
            <a:off x="9779000" y="5934699"/>
            <a:ext cx="5461000" cy="121160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b="1" sz="2900">
                <a:solidFill>
                  <a:srgbClr val="1D3F54"/>
                </a:solidFill>
                <a:latin typeface="Arial"/>
                <a:ea typeface="Arial"/>
                <a:cs typeface="Arial"/>
                <a:sym typeface="Arial"/>
              </a:defRPr>
            </a:pPr>
            <a:r>
              <a:t>Cancer before exclusion</a:t>
            </a:r>
          </a:p>
          <a:p>
            <a:pPr>
              <a:defRPr b="1" sz="2900">
                <a:solidFill>
                  <a:srgbClr val="1D3F54"/>
                </a:solidFill>
                <a:latin typeface="Arial"/>
                <a:ea typeface="Arial"/>
                <a:cs typeface="Arial"/>
                <a:sym typeface="Arial"/>
              </a:defRPr>
            </a:pPr>
            <a:r>
              <a:t>Benign after exclusion</a:t>
            </a:r>
          </a:p>
        </p:txBody>
      </p:sp>
      <p:sp>
        <p:nvSpPr>
          <p:cNvPr id="259" name="Red shading shows native cancer fraction. Dependence alone does not establish foreignness."/>
          <p:cNvSpPr txBox="1"/>
          <p:nvPr/>
        </p:nvSpPr>
        <p:spPr>
          <a:xfrm>
            <a:off x="889000" y="8103642"/>
            <a:ext cx="14224000" cy="36621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200">
                <a:solidFill>
                  <a:srgbClr val="B3781B"/>
                </a:solidFill>
                <a:latin typeface="Arial"/>
                <a:ea typeface="Arial"/>
                <a:cs typeface="Arial"/>
                <a:sym typeface="Arial"/>
              </a:defRPr>
            </a:lvl1pPr>
          </a:lstStyle>
          <a:p>
            <a:pPr/>
            <a:r>
              <a:t>Red shading shows native cancer fraction. Dependence alone does not establish foreignness.</a:t>
            </a:r>
          </a:p>
        </p:txBody>
      </p:sp>
      <p:sp>
        <p:nvSpPr>
          <p:cNvPr id="260" name="09"/>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09</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Observed tissue geometry has limits"/>
          <p:cNvSpPr txBox="1"/>
          <p:nvPr/>
        </p:nvSpPr>
        <p:spPr>
          <a:xfrm>
            <a:off x="889000" y="1083450"/>
            <a:ext cx="14478000"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Observed tissue geometry has limits</a:t>
            </a:r>
          </a:p>
        </p:txBody>
      </p:sp>
      <p:sp>
        <p:nvSpPr>
          <p:cNvPr id="265" name="Actual RGB overview"/>
          <p:cNvSpPr txBox="1"/>
          <p:nvPr/>
        </p:nvSpPr>
        <p:spPr>
          <a:xfrm>
            <a:off x="889000" y="2103723"/>
            <a:ext cx="6604000" cy="42805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600">
                <a:solidFill>
                  <a:srgbClr val="087F8A"/>
                </a:solidFill>
                <a:latin typeface="Arial"/>
                <a:ea typeface="Arial"/>
                <a:cs typeface="Arial"/>
                <a:sym typeface="Arial"/>
              </a:defRPr>
            </a:lvl1pPr>
          </a:lstStyle>
          <a:p>
            <a:pPr/>
            <a:r>
              <a:t>Actual RGB overview</a:t>
            </a:r>
          </a:p>
        </p:txBody>
      </p:sp>
      <p:sp>
        <p:nvSpPr>
          <p:cNvPr id="266" name="Observed foreground edge proxy"/>
          <p:cNvSpPr txBox="1"/>
          <p:nvPr/>
        </p:nvSpPr>
        <p:spPr>
          <a:xfrm>
            <a:off x="8763000" y="2103723"/>
            <a:ext cx="6604001" cy="42805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600">
                <a:solidFill>
                  <a:srgbClr val="087F8A"/>
                </a:solidFill>
                <a:latin typeface="Arial"/>
                <a:ea typeface="Arial"/>
                <a:cs typeface="Arial"/>
                <a:sym typeface="Arial"/>
              </a:defRPr>
            </a:lvl1pPr>
          </a:lstStyle>
          <a:p>
            <a:pPr/>
            <a:r>
              <a:t>Observed foreground edge proxy</a:t>
            </a:r>
          </a:p>
        </p:txBody>
      </p:sp>
      <p:pic>
        <p:nvPicPr>
          <p:cNvPr id="267" name="overview.png" descr="overview.png"/>
          <p:cNvPicPr>
            <a:picLocks noChangeAspect="1"/>
          </p:cNvPicPr>
          <p:nvPr/>
        </p:nvPicPr>
        <p:blipFill>
          <a:blip r:embed="rId3">
            <a:extLst/>
          </a:blip>
          <a:stretch>
            <a:fillRect/>
          </a:stretch>
        </p:blipFill>
        <p:spPr>
          <a:xfrm>
            <a:off x="889000" y="2921000"/>
            <a:ext cx="6593115" cy="4013200"/>
          </a:xfrm>
          <a:prstGeom prst="rect">
            <a:avLst/>
          </a:prstGeom>
          <a:ln w="3175">
            <a:miter lim="400000"/>
          </a:ln>
        </p:spPr>
      </p:pic>
      <p:pic>
        <p:nvPicPr>
          <p:cNvPr id="268" name="tissue_edges.png" descr="tissue_edges.png"/>
          <p:cNvPicPr>
            <a:picLocks noChangeAspect="1"/>
          </p:cNvPicPr>
          <p:nvPr/>
        </p:nvPicPr>
        <p:blipFill>
          <a:blip r:embed="rId4">
            <a:extLst/>
          </a:blip>
          <a:stretch>
            <a:fillRect/>
          </a:stretch>
        </p:blipFill>
        <p:spPr>
          <a:xfrm>
            <a:off x="8763000" y="2921000"/>
            <a:ext cx="6593115" cy="4013200"/>
          </a:xfrm>
          <a:prstGeom prst="rect">
            <a:avLst/>
          </a:prstGeom>
          <a:ln w="3175">
            <a:miter lim="400000"/>
          </a:ln>
        </p:spPr>
      </p:pic>
      <p:sp>
        <p:nvSpPr>
          <p:cNvPr id="269" name="Worst mapping among training slides: 76% of tiles assigned. Review abstains on this case."/>
          <p:cNvSpPr txBox="1"/>
          <p:nvPr/>
        </p:nvSpPr>
        <p:spPr>
          <a:xfrm>
            <a:off x="889000" y="7323215"/>
            <a:ext cx="14224000" cy="40307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500">
                <a:solidFill>
                  <a:srgbClr val="B3781B"/>
                </a:solidFill>
                <a:latin typeface="Arial"/>
                <a:ea typeface="Arial"/>
                <a:cs typeface="Arial"/>
                <a:sym typeface="Arial"/>
              </a:defRPr>
            </a:lvl1pPr>
          </a:lstStyle>
          <a:p>
            <a:pPr/>
            <a:r>
              <a:t>Worst mapping among training slides: 76% of tiles assigned. Review abstains on this case.</a:t>
            </a:r>
          </a:p>
        </p:txBody>
      </p:sp>
      <p:sp>
        <p:nvSpPr>
          <p:cNvPr id="270" name="RGB at factor 16, without gap filling. Boundaries are proxies. 4 of 6 formerly single-component calibration cases become multiple."/>
          <p:cNvSpPr txBox="1"/>
          <p:nvPr/>
        </p:nvSpPr>
        <p:spPr>
          <a:xfrm>
            <a:off x="889000" y="8053916"/>
            <a:ext cx="14224000" cy="59266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6B7A87"/>
                </a:solidFill>
                <a:latin typeface="Arial"/>
                <a:ea typeface="Arial"/>
                <a:cs typeface="Arial"/>
                <a:sym typeface="Arial"/>
              </a:defRPr>
            </a:lvl1pPr>
          </a:lstStyle>
          <a:p>
            <a:pPr/>
            <a:r>
              <a:t>RGB at factor 16, without gap filling. Boundaries are proxies. 4 of 6 formerly single-component calibration cases become multiple.</a:t>
            </a:r>
          </a:p>
        </p:txBody>
      </p:sp>
      <p:sp>
        <p:nvSpPr>
          <p:cNvPr id="271" name="10"/>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10</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Review utility conflicts with reviewer burden"/>
          <p:cNvSpPr txBox="1"/>
          <p:nvPr/>
        </p:nvSpPr>
        <p:spPr>
          <a:xfrm>
            <a:off x="889000" y="1083450"/>
            <a:ext cx="14478000"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Review utility conflicts with reviewer burden</a:t>
            </a:r>
          </a:p>
        </p:txBody>
      </p:sp>
      <p:graphicFrame>
        <p:nvGraphicFramePr>
          <p:cNvPr id="276" name="Table 1"/>
          <p:cNvGraphicFramePr/>
          <p:nvPr/>
        </p:nvGraphicFramePr>
        <p:xfrm>
          <a:off x="825500" y="2032000"/>
          <a:ext cx="4854223" cy="4967112"/>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4191000"/>
                <a:gridCol w="3048000"/>
                <a:gridCol w="3810000"/>
                <a:gridCol w="3556000"/>
              </a:tblGrid>
              <a:tr h="723900">
                <a:tc>
                  <a:txBody>
                    <a:bodyPr/>
                    <a:lstStyle/>
                    <a:p>
                      <a:pPr defTabSz="914400">
                        <a:tabLst>
                          <a:tab pos="1104900" algn="l"/>
                        </a:tabLst>
                        <a:defRPr b="0" sz="1800"/>
                      </a:pPr>
                      <a:r>
                        <a:rPr b="1" sz="2400">
                          <a:solidFill>
                            <a:srgbClr val="FFFFFF"/>
                          </a:solidFill>
                          <a:latin typeface="Arial"/>
                          <a:ea typeface="Arial"/>
                          <a:cs typeface="Arial"/>
                          <a:sym typeface="Arial"/>
                        </a:rPr>
                        <a:t>Calibration rule</a:t>
                      </a:r>
                    </a:p>
                  </a:txBody>
                  <a:tcPr marL="50800" marR="50800" marT="50800" marB="50800" anchor="ctr" anchorCtr="0" horzOverflow="overflow">
                    <a:solidFill>
                      <a:srgbClr val="087F8A"/>
                    </a:solidFill>
                  </a:tcPr>
                </a:tc>
                <a:tc>
                  <a:txBody>
                    <a:bodyPr/>
                    <a:lstStyle/>
                    <a:p>
                      <a:pPr defTabSz="914400">
                        <a:tabLst>
                          <a:tab pos="1104900" algn="l"/>
                        </a:tabLst>
                        <a:defRPr b="0" sz="1800"/>
                      </a:pPr>
                      <a:r>
                        <a:rPr b="1" sz="2400">
                          <a:solidFill>
                            <a:srgbClr val="FFFFFF"/>
                          </a:solidFill>
                          <a:latin typeface="Arial"/>
                          <a:ea typeface="Arial"/>
                          <a:cs typeface="Arial"/>
                          <a:sym typeface="Arial"/>
                        </a:rPr>
                        <a:t>Fragments hit</a:t>
                      </a:r>
                    </a:p>
                  </a:txBody>
                  <a:tcPr marL="50800" marR="50800" marT="50800" marB="50800" anchor="ctr" anchorCtr="0" horzOverflow="overflow">
                    <a:solidFill>
                      <a:srgbClr val="087F8A"/>
                    </a:solidFill>
                  </a:tcPr>
                </a:tc>
                <a:tc>
                  <a:txBody>
                    <a:bodyPr/>
                    <a:lstStyle/>
                    <a:p>
                      <a:pPr defTabSz="914400">
                        <a:tabLst>
                          <a:tab pos="1104900" algn="l"/>
                        </a:tabLst>
                        <a:defRPr b="0" sz="1800"/>
                      </a:pPr>
                      <a:r>
                        <a:rPr b="1" sz="2400">
                          <a:solidFill>
                            <a:srgbClr val="FFFFFF"/>
                          </a:solidFill>
                          <a:latin typeface="Arial"/>
                          <a:ea typeface="Arial"/>
                          <a:cs typeface="Arial"/>
                          <a:sym typeface="Arial"/>
                        </a:rPr>
                        <a:t>Clean slides alerted</a:t>
                      </a:r>
                    </a:p>
                  </a:txBody>
                  <a:tcPr marL="50800" marR="50800" marT="50800" marB="50800" anchor="ctr" anchorCtr="0" horzOverflow="overflow">
                    <a:solidFill>
                      <a:srgbClr val="087F8A"/>
                    </a:solidFill>
                  </a:tcPr>
                </a:tc>
                <a:tc>
                  <a:txBody>
                    <a:bodyPr/>
                    <a:lstStyle/>
                    <a:p>
                      <a:pPr defTabSz="914400">
                        <a:tabLst>
                          <a:tab pos="1104900" algn="l"/>
                        </a:tabLst>
                        <a:defRPr b="0" sz="1800"/>
                      </a:pPr>
                      <a:r>
                        <a:rPr b="1" sz="2400">
                          <a:solidFill>
                            <a:srgbClr val="FFFFFF"/>
                          </a:solidFill>
                          <a:latin typeface="Arial"/>
                          <a:ea typeface="Arial"/>
                          <a:cs typeface="Arial"/>
                          <a:sym typeface="Arial"/>
                        </a:rPr>
                        <a:t>Components / slide</a:t>
                      </a:r>
                    </a:p>
                  </a:txBody>
                  <a:tcPr marL="50800" marR="50800" marT="50800" marB="50800" anchor="ctr" anchorCtr="0" horzOverflow="overflow">
                    <a:solidFill>
                      <a:srgbClr val="087F8A"/>
                    </a:solidFill>
                  </a:tcPr>
                </a:tc>
              </a:tr>
              <a:tr h="723900">
                <a:tc>
                  <a:txBody>
                    <a:bodyPr/>
                    <a:lstStyle/>
                    <a:p>
                      <a:pPr defTabSz="914400">
                        <a:defRPr sz="1800"/>
                      </a:pPr>
                      <a:r>
                        <a:rPr sz="2400">
                          <a:solidFill>
                            <a:srgbClr val="1D3F54"/>
                          </a:solidFill>
                          <a:latin typeface="Arial"/>
                          <a:ea typeface="Arial"/>
                          <a:cs typeface="Arial"/>
                          <a:sym typeface="Arial"/>
                        </a:rPr>
                        <a:t>Combined</a:t>
                      </a:r>
                    </a:p>
                  </a:txBody>
                  <a:tcPr marL="50800" marR="50800" marT="50800" marB="50800" anchor="ctr" anchorCtr="0" horzOverflow="overflow">
                    <a:solidFill>
                      <a:srgbClr val="FFFFFF"/>
                    </a:solidFill>
                  </a:tcPr>
                </a:tc>
                <a:tc>
                  <a:txBody>
                    <a:bodyPr/>
                    <a:lstStyle/>
                    <a:p>
                      <a:pPr defTabSz="914400">
                        <a:defRPr sz="1800"/>
                      </a:pPr>
                      <a:r>
                        <a:rPr sz="2400">
                          <a:solidFill>
                            <a:srgbClr val="1D3F54"/>
                          </a:solidFill>
                          <a:latin typeface="Arial"/>
                          <a:ea typeface="Arial"/>
                          <a:cs typeface="Arial"/>
                          <a:sym typeface="Arial"/>
                        </a:rPr>
                        <a:t>0 / 40</a:t>
                      </a:r>
                    </a:p>
                  </a:txBody>
                  <a:tcPr marL="50800" marR="50800" marT="50800" marB="50800" anchor="ctr" anchorCtr="0" horzOverflow="overflow">
                    <a:solidFill>
                      <a:srgbClr val="FFFFFF"/>
                    </a:solidFill>
                  </a:tcPr>
                </a:tc>
                <a:tc>
                  <a:txBody>
                    <a:bodyPr/>
                    <a:lstStyle/>
                    <a:p>
                      <a:pPr defTabSz="914400">
                        <a:defRPr sz="1800"/>
                      </a:pPr>
                      <a:r>
                        <a:rPr sz="2400">
                          <a:solidFill>
                            <a:srgbClr val="1D3F54"/>
                          </a:solidFill>
                          <a:latin typeface="Arial"/>
                          <a:ea typeface="Arial"/>
                          <a:cs typeface="Arial"/>
                          <a:sym typeface="Arial"/>
                        </a:rPr>
                        <a:t>0 / 24</a:t>
                      </a:r>
                    </a:p>
                  </a:txBody>
                  <a:tcPr marL="50800" marR="50800" marT="50800" marB="50800" anchor="ctr" anchorCtr="0" horzOverflow="overflow">
                    <a:solidFill>
                      <a:srgbClr val="FFFFFF"/>
                    </a:solidFill>
                  </a:tcPr>
                </a:tc>
                <a:tc>
                  <a:txBody>
                    <a:bodyPr/>
                    <a:lstStyle/>
                    <a:p>
                      <a:pPr defTabSz="914400">
                        <a:defRPr sz="1800"/>
                      </a:pPr>
                      <a:r>
                        <a:rPr sz="2400">
                          <a:solidFill>
                            <a:srgbClr val="1D3F54"/>
                          </a:solidFill>
                          <a:latin typeface="Arial"/>
                          <a:ea typeface="Arial"/>
                          <a:cs typeface="Arial"/>
                          <a:sym typeface="Arial"/>
                        </a:rPr>
                        <a:t>0</a:t>
                      </a:r>
                    </a:p>
                  </a:txBody>
                  <a:tcPr marL="50800" marR="50800" marT="50800" marB="50800" anchor="ctr" anchorCtr="0" horzOverflow="overflow">
                    <a:solidFill>
                      <a:srgbClr val="FFFFFF"/>
                    </a:solidFill>
                  </a:tcPr>
                </a:tc>
              </a:tr>
              <a:tr h="723900">
                <a:tc>
                  <a:txBody>
                    <a:bodyPr/>
                    <a:lstStyle/>
                    <a:p>
                      <a:pPr defTabSz="914400">
                        <a:defRPr sz="1800"/>
                      </a:pPr>
                      <a:r>
                        <a:rPr sz="2400">
                          <a:solidFill>
                            <a:srgbClr val="1D3F54"/>
                          </a:solidFill>
                          <a:latin typeface="Arial"/>
                          <a:ea typeface="Arial"/>
                          <a:cs typeface="Arial"/>
                          <a:sym typeface="Arial"/>
                        </a:rPr>
                        <a:t>Visual only</a:t>
                      </a:r>
                    </a:p>
                  </a:txBody>
                  <a:tcPr marL="50800" marR="50800" marT="50800" marB="50800" anchor="ctr" anchorCtr="0" horzOverflow="overflow">
                    <a:solidFill>
                      <a:srgbClr val="FFFFFF"/>
                    </a:solidFill>
                  </a:tcPr>
                </a:tc>
                <a:tc>
                  <a:txBody>
                    <a:bodyPr/>
                    <a:lstStyle/>
                    <a:p>
                      <a:pPr defTabSz="914400">
                        <a:defRPr sz="1800"/>
                      </a:pPr>
                      <a:r>
                        <a:rPr sz="2400">
                          <a:solidFill>
                            <a:srgbClr val="1D3F54"/>
                          </a:solidFill>
                          <a:latin typeface="Arial"/>
                          <a:ea typeface="Arial"/>
                          <a:cs typeface="Arial"/>
                          <a:sym typeface="Arial"/>
                        </a:rPr>
                        <a:t>0 / 40</a:t>
                      </a:r>
                    </a:p>
                  </a:txBody>
                  <a:tcPr marL="50800" marR="50800" marT="50800" marB="50800" anchor="ctr" anchorCtr="0" horzOverflow="overflow">
                    <a:solidFill>
                      <a:srgbClr val="FFFFFF"/>
                    </a:solidFill>
                  </a:tcPr>
                </a:tc>
                <a:tc>
                  <a:txBody>
                    <a:bodyPr/>
                    <a:lstStyle/>
                    <a:p>
                      <a:pPr defTabSz="914400">
                        <a:defRPr sz="1800"/>
                      </a:pPr>
                      <a:r>
                        <a:rPr sz="2400">
                          <a:solidFill>
                            <a:srgbClr val="1D3F54"/>
                          </a:solidFill>
                          <a:latin typeface="Arial"/>
                          <a:ea typeface="Arial"/>
                          <a:cs typeface="Arial"/>
                          <a:sym typeface="Arial"/>
                        </a:rPr>
                        <a:t>0 / 24</a:t>
                      </a:r>
                    </a:p>
                  </a:txBody>
                  <a:tcPr marL="50800" marR="50800" marT="50800" marB="50800" anchor="ctr" anchorCtr="0" horzOverflow="overflow">
                    <a:solidFill>
                      <a:srgbClr val="FFFFFF"/>
                    </a:solidFill>
                  </a:tcPr>
                </a:tc>
                <a:tc>
                  <a:txBody>
                    <a:bodyPr/>
                    <a:lstStyle/>
                    <a:p>
                      <a:pPr defTabSz="914400">
                        <a:defRPr sz="1800"/>
                      </a:pPr>
                      <a:r>
                        <a:rPr sz="2400">
                          <a:solidFill>
                            <a:srgbClr val="1D3F54"/>
                          </a:solidFill>
                          <a:latin typeface="Arial"/>
                          <a:ea typeface="Arial"/>
                          <a:cs typeface="Arial"/>
                          <a:sym typeface="Arial"/>
                        </a:rPr>
                        <a:t>0</a:t>
                      </a:r>
                    </a:p>
                  </a:txBody>
                  <a:tcPr marL="50800" marR="50800" marT="50800" marB="50800" anchor="ctr" anchorCtr="0" horzOverflow="overflow">
                    <a:solidFill>
                      <a:srgbClr val="FFFFFF"/>
                    </a:solidFill>
                  </a:tcPr>
                </a:tc>
              </a:tr>
              <a:tr h="723900">
                <a:tc>
                  <a:txBody>
                    <a:bodyPr/>
                    <a:lstStyle/>
                    <a:p>
                      <a:pPr defTabSz="914400">
                        <a:defRPr sz="1800"/>
                      </a:pPr>
                      <a:r>
                        <a:rPr sz="2400">
                          <a:solidFill>
                            <a:srgbClr val="1D3F54"/>
                          </a:solidFill>
                          <a:latin typeface="Arial"/>
                          <a:ea typeface="Arial"/>
                          <a:cs typeface="Arial"/>
                          <a:sym typeface="Arial"/>
                        </a:rPr>
                        <a:t>Decision only</a:t>
                      </a:r>
                    </a:p>
                  </a:txBody>
                  <a:tcPr marL="50800" marR="50800" marT="50800" marB="50800" anchor="ctr" anchorCtr="0" horzOverflow="overflow">
                    <a:solidFill>
                      <a:srgbClr val="FFFFFF"/>
                    </a:solidFill>
                  </a:tcPr>
                </a:tc>
                <a:tc>
                  <a:txBody>
                    <a:bodyPr/>
                    <a:lstStyle/>
                    <a:p>
                      <a:pPr defTabSz="914400">
                        <a:defRPr sz="1800"/>
                      </a:pPr>
                      <a:r>
                        <a:rPr sz="2400">
                          <a:solidFill>
                            <a:srgbClr val="1D3F54"/>
                          </a:solidFill>
                          <a:latin typeface="Arial"/>
                          <a:ea typeface="Arial"/>
                          <a:cs typeface="Arial"/>
                          <a:sym typeface="Arial"/>
                        </a:rPr>
                        <a:t>8 / 40</a:t>
                      </a:r>
                    </a:p>
                  </a:txBody>
                  <a:tcPr marL="50800" marR="50800" marT="50800" marB="50800" anchor="ctr" anchorCtr="0" horzOverflow="overflow">
                    <a:solidFill>
                      <a:srgbClr val="FFFFFF"/>
                    </a:solidFill>
                  </a:tcPr>
                </a:tc>
                <a:tc>
                  <a:txBody>
                    <a:bodyPr/>
                    <a:lstStyle/>
                    <a:p>
                      <a:pPr defTabSz="914400">
                        <a:defRPr sz="1800"/>
                      </a:pPr>
                      <a:r>
                        <a:rPr sz="2400">
                          <a:solidFill>
                            <a:srgbClr val="1D3F54"/>
                          </a:solidFill>
                          <a:latin typeface="Arial"/>
                          <a:ea typeface="Arial"/>
                          <a:cs typeface="Arial"/>
                          <a:sym typeface="Arial"/>
                        </a:rPr>
                        <a:t>4 / 24</a:t>
                      </a:r>
                    </a:p>
                  </a:txBody>
                  <a:tcPr marL="50800" marR="50800" marT="50800" marB="50800" anchor="ctr" anchorCtr="0" horzOverflow="overflow">
                    <a:solidFill>
                      <a:srgbClr val="FFFFFF"/>
                    </a:solidFill>
                  </a:tcPr>
                </a:tc>
                <a:tc>
                  <a:txBody>
                    <a:bodyPr/>
                    <a:lstStyle/>
                    <a:p>
                      <a:pPr defTabSz="914400">
                        <a:defRPr sz="1800"/>
                      </a:pPr>
                      <a:r>
                        <a:rPr sz="2400">
                          <a:solidFill>
                            <a:srgbClr val="1D3F54"/>
                          </a:solidFill>
                          <a:latin typeface="Arial"/>
                          <a:ea typeface="Arial"/>
                          <a:cs typeface="Arial"/>
                          <a:sym typeface="Arial"/>
                        </a:rPr>
                        <a:t>0.167</a:t>
                      </a:r>
                    </a:p>
                  </a:txBody>
                  <a:tcPr marL="50800" marR="50800" marT="50800" marB="50800" anchor="ctr" anchorCtr="0" horzOverflow="overflow">
                    <a:solidFill>
                      <a:srgbClr val="FFFFFF"/>
                    </a:solidFill>
                  </a:tcPr>
                </a:tc>
              </a:tr>
              <a:tr h="723900">
                <a:tc>
                  <a:txBody>
                    <a:bodyPr/>
                    <a:lstStyle/>
                    <a:p>
                      <a:pPr defTabSz="914400">
                        <a:defRPr sz="1800"/>
                      </a:pPr>
                      <a:r>
                        <a:rPr sz="2400">
                          <a:solidFill>
                            <a:srgbClr val="1D3F54"/>
                          </a:solidFill>
                          <a:latin typeface="Arial"/>
                          <a:ea typeface="Arial"/>
                          <a:cs typeface="Arial"/>
                          <a:sym typeface="Arial"/>
                        </a:rPr>
                        <a:t>Spatial only</a:t>
                      </a:r>
                    </a:p>
                  </a:txBody>
                  <a:tcPr marL="50800" marR="50800" marT="50800" marB="50800" anchor="ctr" anchorCtr="0" horzOverflow="overflow">
                    <a:solidFill>
                      <a:srgbClr val="FFFFFF"/>
                    </a:solidFill>
                  </a:tcPr>
                </a:tc>
                <a:tc>
                  <a:txBody>
                    <a:bodyPr/>
                    <a:lstStyle/>
                    <a:p>
                      <a:pPr defTabSz="914400">
                        <a:defRPr sz="1800"/>
                      </a:pPr>
                      <a:r>
                        <a:rPr sz="2400">
                          <a:solidFill>
                            <a:srgbClr val="1D3F54"/>
                          </a:solidFill>
                          <a:latin typeface="Arial"/>
                          <a:ea typeface="Arial"/>
                          <a:cs typeface="Arial"/>
                          <a:sym typeface="Arial"/>
                        </a:rPr>
                        <a:t>32 / 40</a:t>
                      </a:r>
                    </a:p>
                  </a:txBody>
                  <a:tcPr marL="50800" marR="50800" marT="50800" marB="50800" anchor="ctr" anchorCtr="0" horzOverflow="overflow">
                    <a:solidFill>
                      <a:srgbClr val="FFFFFF"/>
                    </a:solidFill>
                  </a:tcPr>
                </a:tc>
                <a:tc>
                  <a:txBody>
                    <a:bodyPr/>
                    <a:lstStyle/>
                    <a:p>
                      <a:pPr defTabSz="914400">
                        <a:defRPr sz="1800"/>
                      </a:pPr>
                      <a:r>
                        <a:rPr sz="2400">
                          <a:solidFill>
                            <a:srgbClr val="1D3F54"/>
                          </a:solidFill>
                          <a:latin typeface="Arial"/>
                          <a:ea typeface="Arial"/>
                          <a:cs typeface="Arial"/>
                          <a:sym typeface="Arial"/>
                        </a:rPr>
                        <a:t>19 / 24</a:t>
                      </a:r>
                    </a:p>
                  </a:txBody>
                  <a:tcPr marL="50800" marR="50800" marT="50800" marB="50800" anchor="ctr" anchorCtr="0" horzOverflow="overflow">
                    <a:solidFill>
                      <a:srgbClr val="FFFFFF"/>
                    </a:solidFill>
                  </a:tcPr>
                </a:tc>
                <a:tc>
                  <a:txBody>
                    <a:bodyPr/>
                    <a:lstStyle/>
                    <a:p>
                      <a:pPr defTabSz="914400">
                        <a:defRPr sz="1800"/>
                      </a:pPr>
                      <a:r>
                        <a:rPr sz="2400">
                          <a:solidFill>
                            <a:srgbClr val="1D3F54"/>
                          </a:solidFill>
                          <a:latin typeface="Arial"/>
                          <a:ea typeface="Arial"/>
                          <a:cs typeface="Arial"/>
                          <a:sym typeface="Arial"/>
                        </a:rPr>
                        <a:t>3.583</a:t>
                      </a:r>
                    </a:p>
                  </a:txBody>
                  <a:tcPr marL="50800" marR="50800" marT="50800" marB="50800" anchor="ctr" anchorCtr="0" horzOverflow="overflow">
                    <a:solidFill>
                      <a:srgbClr val="FFFFFF"/>
                    </a:solidFill>
                  </a:tcPr>
                </a:tc>
              </a:tr>
            </a:tbl>
          </a:graphicData>
        </a:graphic>
      </p:graphicFrame>
      <p:sp>
        <p:nvSpPr>
          <p:cNvPr id="277" name="Decision-only hypothetical filtering damages 3/20 originally correct clean predictions and flags 1/26 native cancer components."/>
          <p:cNvSpPr txBox="1"/>
          <p:nvPr/>
        </p:nvSpPr>
        <p:spPr>
          <a:xfrm>
            <a:off x="889000" y="6593455"/>
            <a:ext cx="14224000" cy="78309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700">
                <a:solidFill>
                  <a:srgbClr val="B3781B"/>
                </a:solidFill>
                <a:latin typeface="Arial"/>
                <a:ea typeface="Arial"/>
                <a:cs typeface="Arial"/>
                <a:sym typeface="Arial"/>
              </a:defRPr>
            </a:lvl1pPr>
          </a:lstStyle>
          <a:p>
            <a:pPr/>
            <a:r>
              <a:t>Decision-only hypothetical filtering damages 3/20 originally correct clean predictions and flags 1/26 native cancer components.</a:t>
            </a:r>
          </a:p>
        </p:txBody>
      </p:sp>
      <p:sp>
        <p:nvSpPr>
          <p:cNvPr id="278" name="40 mixtures reuse 8 hosts. Clean alerts measure review burden, not adjudicated natural-contaminant specificity."/>
          <p:cNvSpPr txBox="1"/>
          <p:nvPr/>
        </p:nvSpPr>
        <p:spPr>
          <a:xfrm>
            <a:off x="889000" y="8122277"/>
            <a:ext cx="14224000" cy="328947"/>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6B7A87"/>
                </a:solidFill>
                <a:latin typeface="Arial"/>
                <a:ea typeface="Arial"/>
                <a:cs typeface="Arial"/>
                <a:sym typeface="Arial"/>
              </a:defRPr>
            </a:lvl1pPr>
          </a:lstStyle>
          <a:p>
            <a:pPr/>
            <a:r>
              <a:t>40 mixtures reuse 8 hosts. Clean alerts measure review burden, not adjudicated natural-contaminant specificity.</a:t>
            </a:r>
          </a:p>
        </p:txBody>
      </p:sp>
      <p:sp>
        <p:nvSpPr>
          <p:cNvPr id="279" name="Development targets: ≤10% clean slides alerted and ≤0.5 components per slide"/>
          <p:cNvSpPr txBox="1"/>
          <p:nvPr/>
        </p:nvSpPr>
        <p:spPr>
          <a:xfrm>
            <a:off x="889000" y="5663403"/>
            <a:ext cx="14224000" cy="36621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200">
                <a:solidFill>
                  <a:srgbClr val="087F8A"/>
                </a:solidFill>
                <a:latin typeface="Arial"/>
                <a:ea typeface="Arial"/>
                <a:cs typeface="Arial"/>
                <a:sym typeface="Arial"/>
              </a:defRPr>
            </a:lvl1pPr>
          </a:lstStyle>
          <a:p>
            <a:pPr/>
            <a:r>
              <a:t>Development targets: ≤10% clean slides alerted and ≤0.5 components per slide</a:t>
            </a:r>
          </a:p>
        </p:txBody>
      </p:sp>
      <p:sp>
        <p:nvSpPr>
          <p:cNvPr id="280" name="11"/>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11</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4" name="The combined v1 policy failed its utility gate"/>
          <p:cNvSpPr txBox="1"/>
          <p:nvPr/>
        </p:nvSpPr>
        <p:spPr>
          <a:xfrm>
            <a:off x="889000" y="1083450"/>
            <a:ext cx="14478000"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The combined v1 policy failed its utility gate</a:t>
            </a:r>
          </a:p>
        </p:txBody>
      </p:sp>
      <p:pic>
        <p:nvPicPr>
          <p:cNvPr id="285" name="review_failure_funnel.png" descr="review_failure_funnel.png"/>
          <p:cNvPicPr>
            <a:picLocks noChangeAspect="1"/>
          </p:cNvPicPr>
          <p:nvPr/>
        </p:nvPicPr>
        <p:blipFill>
          <a:blip r:embed="rId3">
            <a:extLst/>
          </a:blip>
          <a:stretch>
            <a:fillRect/>
          </a:stretch>
        </p:blipFill>
        <p:spPr>
          <a:xfrm>
            <a:off x="889000" y="2298700"/>
            <a:ext cx="9371542" cy="4089400"/>
          </a:xfrm>
          <a:prstGeom prst="rect">
            <a:avLst/>
          </a:prstGeom>
          <a:ln w="3175">
            <a:miter lim="400000"/>
          </a:ln>
        </p:spPr>
      </p:pic>
      <p:sp>
        <p:nvSpPr>
          <p:cNvPr id="286" name="0 / 40 fragments detected"/>
          <p:cNvSpPr txBox="1"/>
          <p:nvPr/>
        </p:nvSpPr>
        <p:spPr>
          <a:xfrm>
            <a:off x="10858500" y="1982377"/>
            <a:ext cx="4445000" cy="997269"/>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500">
                <a:solidFill>
                  <a:srgbClr val="B95C51"/>
                </a:solidFill>
                <a:latin typeface="Arial"/>
                <a:ea typeface="Arial"/>
                <a:cs typeface="Arial"/>
                <a:sym typeface="Arial"/>
              </a:defRPr>
            </a:lvl1pPr>
          </a:lstStyle>
          <a:p>
            <a:pPr/>
            <a:r>
              <a:t>0 / 40 fragments detected</a:t>
            </a:r>
          </a:p>
        </p:txBody>
      </p:sp>
      <p:sp>
        <p:nvSpPr>
          <p:cNvPr id="287" name="No useful candidate among…"/>
          <p:cNvSpPr txBox="1"/>
          <p:nvPr/>
        </p:nvSpPr>
        <p:spPr>
          <a:xfrm>
            <a:off x="10858500" y="3686262"/>
            <a:ext cx="4445000" cy="158999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b="1" sz="2900">
                <a:solidFill>
                  <a:srgbClr val="1D3F54"/>
                </a:solidFill>
                <a:latin typeface="Arial"/>
                <a:ea typeface="Arial"/>
                <a:cs typeface="Arial"/>
                <a:sym typeface="Arial"/>
              </a:defRPr>
            </a:pPr>
            <a:r>
              <a:t>No useful candidate among</a:t>
            </a:r>
          </a:p>
          <a:p>
            <a:pPr>
              <a:defRPr b="1" sz="2900">
                <a:solidFill>
                  <a:srgbClr val="1D3F54"/>
                </a:solidFill>
                <a:latin typeface="Arial"/>
                <a:ea typeface="Arial"/>
                <a:cs typeface="Arial"/>
                <a:sym typeface="Arial"/>
              </a:defRPr>
            </a:pPr>
            <a:r>
              <a:t>81 preregistered rules</a:t>
            </a:r>
          </a:p>
        </p:txBody>
      </p:sp>
      <p:sp>
        <p:nvSpPr>
          <p:cNvPr id="288" name="0/24 alerts has a 95%…"/>
          <p:cNvSpPr txBox="1"/>
          <p:nvPr/>
        </p:nvSpPr>
        <p:spPr>
          <a:xfrm>
            <a:off x="10858500" y="6073978"/>
            <a:ext cx="4445000" cy="106906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2300">
                <a:solidFill>
                  <a:srgbClr val="6B7A87"/>
                </a:solidFill>
                <a:latin typeface="Arial"/>
                <a:ea typeface="Arial"/>
                <a:cs typeface="Arial"/>
                <a:sym typeface="Arial"/>
              </a:defRPr>
            </a:pPr>
            <a:r>
              <a:t>0/24 alerts has a 95%</a:t>
            </a:r>
          </a:p>
          <a:p>
            <a:pPr>
              <a:defRPr sz="2300">
                <a:solidFill>
                  <a:srgbClr val="6B7A87"/>
                </a:solidFill>
                <a:latin typeface="Arial"/>
                <a:ea typeface="Arial"/>
                <a:cs typeface="Arial"/>
                <a:sym typeface="Arial"/>
              </a:defRPr>
            </a:pPr>
            <a:r>
              <a:t>Wilson interval of 0–13.8%</a:t>
            </a:r>
          </a:p>
        </p:txBody>
      </p:sp>
      <p:sp>
        <p:nvSpPr>
          <p:cNvPr id="289" name="The frozen protocol records rejection. Its final-test job remains blocked."/>
          <p:cNvSpPr txBox="1"/>
          <p:nvPr/>
        </p:nvSpPr>
        <p:spPr>
          <a:xfrm>
            <a:off x="889000" y="7876288"/>
            <a:ext cx="14351000" cy="4399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800">
                <a:solidFill>
                  <a:srgbClr val="B95C51"/>
                </a:solidFill>
                <a:latin typeface="Arial"/>
                <a:ea typeface="Arial"/>
                <a:cs typeface="Arial"/>
                <a:sym typeface="Arial"/>
              </a:defRPr>
            </a:lvl1pPr>
          </a:lstStyle>
          <a:p>
            <a:pPr/>
            <a:r>
              <a:t>The frozen protocol records rejection. Its final-test job remains blocked.</a:t>
            </a:r>
          </a:p>
        </p:txBody>
      </p:sp>
      <p:sp>
        <p:nvSpPr>
          <p:cNvPr id="290" name="12"/>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12</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4" name="S2: clean grade scorer before contamination"/>
          <p:cNvSpPr txBox="1"/>
          <p:nvPr/>
        </p:nvSpPr>
        <p:spPr>
          <a:xfrm>
            <a:off x="889000" y="1083450"/>
            <a:ext cx="14478000"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S2: clean grade scorer before contamination</a:t>
            </a:r>
          </a:p>
        </p:txBody>
      </p:sp>
      <p:sp>
        <p:nvSpPr>
          <p:cNvPr id="295" name="Mean pooling selected before S2 outcomes"/>
          <p:cNvSpPr txBox="1"/>
          <p:nvPr/>
        </p:nvSpPr>
        <p:spPr>
          <a:xfrm>
            <a:off x="889000" y="1977762"/>
            <a:ext cx="14097000" cy="48947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100">
                <a:solidFill>
                  <a:srgbClr val="087F8A"/>
                </a:solidFill>
                <a:latin typeface="Arial"/>
                <a:ea typeface="Arial"/>
                <a:cs typeface="Arial"/>
                <a:sym typeface="Arial"/>
              </a:defRPr>
            </a:lvl1pPr>
          </a:lstStyle>
          <a:p>
            <a:pPr/>
            <a:r>
              <a:t>Mean pooling selected before S2 outcomes</a:t>
            </a:r>
          </a:p>
        </p:txBody>
      </p:sp>
      <p:graphicFrame>
        <p:nvGraphicFramePr>
          <p:cNvPr id="296" name="Table 1"/>
          <p:cNvGraphicFramePr/>
          <p:nvPr/>
        </p:nvGraphicFramePr>
        <p:xfrm>
          <a:off x="889000" y="3175000"/>
          <a:ext cx="4854223" cy="4967112"/>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5715000"/>
                <a:gridCol w="4191000"/>
                <a:gridCol w="4191000"/>
              </a:tblGrid>
              <a:tr h="774700">
                <a:tc>
                  <a:txBody>
                    <a:bodyPr/>
                    <a:lstStyle/>
                    <a:p>
                      <a:pPr defTabSz="914400">
                        <a:tabLst>
                          <a:tab pos="1104900" algn="l"/>
                        </a:tabLst>
                        <a:defRPr b="0" sz="1800"/>
                      </a:pPr>
                      <a:r>
                        <a:rPr b="1" sz="2500">
                          <a:solidFill>
                            <a:srgbClr val="FFFFFF"/>
                          </a:solidFill>
                          <a:latin typeface="Arial"/>
                          <a:ea typeface="Arial"/>
                          <a:cs typeface="Arial"/>
                          <a:sym typeface="Arial"/>
                        </a:rPr>
                        <a:t>Clean low/high scorer</a:t>
                      </a:r>
                    </a:p>
                  </a:txBody>
                  <a:tcPr marL="50800" marR="50800" marT="50800" marB="50800" anchor="ctr" anchorCtr="0" horzOverflow="overflow">
                    <a:solidFill>
                      <a:srgbClr val="087F8A"/>
                    </a:solidFill>
                  </a:tcPr>
                </a:tc>
                <a:tc>
                  <a:txBody>
                    <a:bodyPr/>
                    <a:lstStyle/>
                    <a:p>
                      <a:pPr defTabSz="914400">
                        <a:tabLst>
                          <a:tab pos="1104900" algn="l"/>
                        </a:tabLst>
                        <a:defRPr b="0" sz="1800"/>
                      </a:pPr>
                      <a:r>
                        <a:rPr b="1" sz="2500">
                          <a:solidFill>
                            <a:srgbClr val="FFFFFF"/>
                          </a:solidFill>
                          <a:latin typeface="Arial"/>
                          <a:ea typeface="Arial"/>
                          <a:cs typeface="Arial"/>
                          <a:sym typeface="Arial"/>
                        </a:rPr>
                        <a:t>Training correct</a:t>
                      </a:r>
                    </a:p>
                  </a:txBody>
                  <a:tcPr marL="50800" marR="50800" marT="50800" marB="50800" anchor="ctr" anchorCtr="0" horzOverflow="overflow">
                    <a:solidFill>
                      <a:srgbClr val="087F8A"/>
                    </a:solidFill>
                  </a:tcPr>
                </a:tc>
                <a:tc>
                  <a:txBody>
                    <a:bodyPr/>
                    <a:lstStyle/>
                    <a:p>
                      <a:pPr defTabSz="914400">
                        <a:tabLst>
                          <a:tab pos="1104900" algn="l"/>
                        </a:tabLst>
                        <a:defRPr b="0" sz="1800"/>
                      </a:pPr>
                      <a:r>
                        <a:rPr b="1" sz="2500">
                          <a:solidFill>
                            <a:srgbClr val="FFFFFF"/>
                          </a:solidFill>
                          <a:latin typeface="Arial"/>
                          <a:ea typeface="Arial"/>
                          <a:cs typeface="Arial"/>
                          <a:sym typeface="Arial"/>
                        </a:rPr>
                        <a:t>Calibration correct</a:t>
                      </a:r>
                    </a:p>
                  </a:txBody>
                  <a:tcPr marL="50800" marR="50800" marT="50800" marB="50800" anchor="ctr" anchorCtr="0" horzOverflow="overflow">
                    <a:solidFill>
                      <a:srgbClr val="087F8A"/>
                    </a:solidFill>
                  </a:tcPr>
                </a:tc>
              </a:tr>
              <a:tr h="774700">
                <a:tc>
                  <a:txBody>
                    <a:bodyPr/>
                    <a:lstStyle/>
                    <a:p>
                      <a:pPr defTabSz="914400">
                        <a:defRPr sz="1800"/>
                      </a:pPr>
                      <a:r>
                        <a:rPr sz="2500">
                          <a:solidFill>
                            <a:srgbClr val="1D3F54"/>
                          </a:solidFill>
                          <a:latin typeface="Arial"/>
                          <a:ea typeface="Arial"/>
                          <a:cs typeface="Arial"/>
                          <a:sym typeface="Arial"/>
                        </a:rPr>
                        <a:t>Mean, primary</a:t>
                      </a:r>
                    </a:p>
                  </a:txBody>
                  <a:tcPr marL="50800" marR="50800" marT="50800" marB="50800" anchor="ctr" anchorCtr="0" horzOverflow="overflow">
                    <a:solidFill>
                      <a:srgbClr val="FFFFFF"/>
                    </a:solidFill>
                  </a:tcPr>
                </a:tc>
                <a:tc>
                  <a:txBody>
                    <a:bodyPr/>
                    <a:lstStyle/>
                    <a:p>
                      <a:pPr defTabSz="914400">
                        <a:defRPr sz="1800"/>
                      </a:pPr>
                      <a:r>
                        <a:rPr sz="2500">
                          <a:solidFill>
                            <a:srgbClr val="1D3F54"/>
                          </a:solidFill>
                          <a:latin typeface="Arial"/>
                          <a:ea typeface="Arial"/>
                          <a:cs typeface="Arial"/>
                          <a:sym typeface="Arial"/>
                        </a:rPr>
                        <a:t>35 / 48</a:t>
                      </a:r>
                    </a:p>
                  </a:txBody>
                  <a:tcPr marL="50800" marR="50800" marT="50800" marB="50800" anchor="ctr" anchorCtr="0" horzOverflow="overflow">
                    <a:solidFill>
                      <a:srgbClr val="FFFFFF"/>
                    </a:solidFill>
                  </a:tcPr>
                </a:tc>
                <a:tc>
                  <a:txBody>
                    <a:bodyPr/>
                    <a:lstStyle/>
                    <a:p>
                      <a:pPr defTabSz="914400">
                        <a:defRPr sz="1800"/>
                      </a:pPr>
                      <a:r>
                        <a:rPr sz="2500">
                          <a:solidFill>
                            <a:srgbClr val="1D3F54"/>
                          </a:solidFill>
                          <a:latin typeface="Arial"/>
                          <a:ea typeface="Arial"/>
                          <a:cs typeface="Arial"/>
                          <a:sym typeface="Arial"/>
                        </a:rPr>
                        <a:t>12 / 16</a:t>
                      </a:r>
                    </a:p>
                  </a:txBody>
                  <a:tcPr marL="50800" marR="50800" marT="50800" marB="50800" anchor="ctr" anchorCtr="0" horzOverflow="overflow">
                    <a:solidFill>
                      <a:srgbClr val="FFFFFF"/>
                    </a:solidFill>
                  </a:tcPr>
                </a:tc>
              </a:tr>
              <a:tr h="774700">
                <a:tc>
                  <a:txBody>
                    <a:bodyPr/>
                    <a:lstStyle/>
                    <a:p>
                      <a:pPr defTabSz="914400">
                        <a:defRPr sz="1800"/>
                      </a:pPr>
                      <a:r>
                        <a:rPr sz="2500">
                          <a:solidFill>
                            <a:srgbClr val="1D3F54"/>
                          </a:solidFill>
                          <a:latin typeface="Arial"/>
                          <a:ea typeface="Arial"/>
                          <a:cs typeface="Arial"/>
                          <a:sym typeface="Arial"/>
                        </a:rPr>
                        <a:t>Top 1%</a:t>
                      </a:r>
                    </a:p>
                  </a:txBody>
                  <a:tcPr marL="50800" marR="50800" marT="50800" marB="50800" anchor="ctr" anchorCtr="0" horzOverflow="overflow">
                    <a:solidFill>
                      <a:srgbClr val="FFFFFF"/>
                    </a:solidFill>
                  </a:tcPr>
                </a:tc>
                <a:tc>
                  <a:txBody>
                    <a:bodyPr/>
                    <a:lstStyle/>
                    <a:p>
                      <a:pPr defTabSz="914400">
                        <a:defRPr sz="1800"/>
                      </a:pPr>
                      <a:r>
                        <a:rPr sz="2500">
                          <a:solidFill>
                            <a:srgbClr val="1D3F54"/>
                          </a:solidFill>
                          <a:latin typeface="Arial"/>
                          <a:ea typeface="Arial"/>
                          <a:cs typeface="Arial"/>
                          <a:sym typeface="Arial"/>
                        </a:rPr>
                        <a:t>29 / 48</a:t>
                      </a:r>
                    </a:p>
                  </a:txBody>
                  <a:tcPr marL="50800" marR="50800" marT="50800" marB="50800" anchor="ctr" anchorCtr="0" horzOverflow="overflow">
                    <a:solidFill>
                      <a:srgbClr val="FFFFFF"/>
                    </a:solidFill>
                  </a:tcPr>
                </a:tc>
                <a:tc>
                  <a:txBody>
                    <a:bodyPr/>
                    <a:lstStyle/>
                    <a:p>
                      <a:pPr defTabSz="914400">
                        <a:defRPr sz="1800"/>
                      </a:pPr>
                      <a:r>
                        <a:rPr sz="2500">
                          <a:solidFill>
                            <a:srgbClr val="1D3F54"/>
                          </a:solidFill>
                          <a:latin typeface="Arial"/>
                          <a:ea typeface="Arial"/>
                          <a:cs typeface="Arial"/>
                          <a:sym typeface="Arial"/>
                        </a:rPr>
                        <a:t>10 / 16</a:t>
                      </a:r>
                    </a:p>
                  </a:txBody>
                  <a:tcPr marL="50800" marR="50800" marT="50800" marB="50800" anchor="ctr" anchorCtr="0" horzOverflow="overflow">
                    <a:solidFill>
                      <a:srgbClr val="FFFFFF"/>
                    </a:solidFill>
                  </a:tcPr>
                </a:tc>
              </a:tr>
              <a:tr h="774700">
                <a:tc>
                  <a:txBody>
                    <a:bodyPr/>
                    <a:lstStyle/>
                    <a:p>
                      <a:pPr defTabSz="914400">
                        <a:defRPr sz="1800"/>
                      </a:pPr>
                      <a:r>
                        <a:rPr sz="2500">
                          <a:solidFill>
                            <a:srgbClr val="1D3F54"/>
                          </a:solidFill>
                          <a:latin typeface="Arial"/>
                          <a:ea typeface="Arial"/>
                          <a:cs typeface="Arial"/>
                          <a:sym typeface="Arial"/>
                        </a:rPr>
                        <a:t>Top 5%</a:t>
                      </a:r>
                    </a:p>
                  </a:txBody>
                  <a:tcPr marL="50800" marR="50800" marT="50800" marB="50800" anchor="ctr" anchorCtr="0" horzOverflow="overflow">
                    <a:solidFill>
                      <a:srgbClr val="FFFFFF"/>
                    </a:solidFill>
                  </a:tcPr>
                </a:tc>
                <a:tc>
                  <a:txBody>
                    <a:bodyPr/>
                    <a:lstStyle/>
                    <a:p>
                      <a:pPr defTabSz="914400">
                        <a:defRPr sz="1800"/>
                      </a:pPr>
                      <a:r>
                        <a:rPr sz="2500">
                          <a:solidFill>
                            <a:srgbClr val="1D3F54"/>
                          </a:solidFill>
                          <a:latin typeface="Arial"/>
                          <a:ea typeface="Arial"/>
                          <a:cs typeface="Arial"/>
                          <a:sym typeface="Arial"/>
                        </a:rPr>
                        <a:t>30 / 48</a:t>
                      </a:r>
                    </a:p>
                  </a:txBody>
                  <a:tcPr marL="50800" marR="50800" marT="50800" marB="50800" anchor="ctr" anchorCtr="0" horzOverflow="overflow">
                    <a:solidFill>
                      <a:srgbClr val="FFFFFF"/>
                    </a:solidFill>
                  </a:tcPr>
                </a:tc>
                <a:tc>
                  <a:txBody>
                    <a:bodyPr/>
                    <a:lstStyle/>
                    <a:p>
                      <a:pPr defTabSz="914400">
                        <a:defRPr sz="1800"/>
                      </a:pPr>
                      <a:r>
                        <a:rPr sz="2500">
                          <a:solidFill>
                            <a:srgbClr val="1D3F54"/>
                          </a:solidFill>
                          <a:latin typeface="Arial"/>
                          <a:ea typeface="Arial"/>
                          <a:cs typeface="Arial"/>
                          <a:sym typeface="Arial"/>
                        </a:rPr>
                        <a:t>11 / 16</a:t>
                      </a:r>
                    </a:p>
                  </a:txBody>
                  <a:tcPr marL="50800" marR="50800" marT="50800" marB="50800" anchor="ctr" anchorCtr="0" horzOverflow="overflow">
                    <a:solidFill>
                      <a:srgbClr val="FFFFFF"/>
                    </a:solidFill>
                  </a:tcPr>
                </a:tc>
              </a:tr>
            </a:tbl>
          </a:graphicData>
        </a:graphic>
      </p:graphicFrame>
      <p:sp>
        <p:nvSpPr>
          <p:cNvPr id="297" name="Primary calibration: low 8/8, high 4/8. Limited high-grade sensitivity remains explicit."/>
          <p:cNvSpPr txBox="1"/>
          <p:nvPr/>
        </p:nvSpPr>
        <p:spPr>
          <a:xfrm>
            <a:off x="889000" y="6807442"/>
            <a:ext cx="14097000" cy="42763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700">
                <a:solidFill>
                  <a:srgbClr val="B3781B"/>
                </a:solidFill>
                <a:latin typeface="Arial"/>
                <a:ea typeface="Arial"/>
                <a:cs typeface="Arial"/>
                <a:sym typeface="Arial"/>
              </a:defRPr>
            </a:lvl1pPr>
          </a:lstStyle>
          <a:p>
            <a:pPr/>
            <a:r>
              <a:t>Primary calibration: low 8/8, high 4/8. Limited high-grade sensitivity remains explicit.</a:t>
            </a:r>
          </a:p>
        </p:txBody>
      </p:sp>
      <p:sp>
        <p:nvSpPr>
          <p:cNvPr id="298" name="760 trials across four donor conditions. 32 host slides, 37 donor slides. Exact oracle: 760/760."/>
          <p:cNvSpPr txBox="1"/>
          <p:nvPr/>
        </p:nvSpPr>
        <p:spPr>
          <a:xfrm>
            <a:off x="889000" y="8040142"/>
            <a:ext cx="14097000" cy="36621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200">
                <a:solidFill>
                  <a:srgbClr val="6B7A87"/>
                </a:solidFill>
                <a:latin typeface="Arial"/>
                <a:ea typeface="Arial"/>
                <a:cs typeface="Arial"/>
                <a:sym typeface="Arial"/>
              </a:defRPr>
            </a:lvl1pPr>
          </a:lstStyle>
          <a:p>
            <a:pPr/>
            <a:r>
              <a:t>760 trials across four donor conditions. 32 host slides, 37 donor slides. Exact oracle: 760/760.</a:t>
            </a:r>
          </a:p>
        </p:txBody>
      </p:sp>
      <p:sp>
        <p:nvSpPr>
          <p:cNvPr id="299" name="13"/>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13</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3" name="S2 primary result: no calibration label flips"/>
          <p:cNvSpPr txBox="1"/>
          <p:nvPr/>
        </p:nvSpPr>
        <p:spPr>
          <a:xfrm>
            <a:off x="889000" y="1083450"/>
            <a:ext cx="14478000"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S2 primary result: no calibration label flips</a:t>
            </a:r>
          </a:p>
        </p:txBody>
      </p:sp>
      <p:pic>
        <p:nvPicPr>
          <p:cNvPr id="304" name="s2_pooling_sensitivity.png" descr="s2_pooling_sensitivity.png"/>
          <p:cNvPicPr>
            <a:picLocks noChangeAspect="1"/>
          </p:cNvPicPr>
          <p:nvPr/>
        </p:nvPicPr>
        <p:blipFill>
          <a:blip r:embed="rId3">
            <a:extLst/>
          </a:blip>
          <a:stretch>
            <a:fillRect/>
          </a:stretch>
        </p:blipFill>
        <p:spPr>
          <a:xfrm>
            <a:off x="1422400" y="1968499"/>
            <a:ext cx="7815449" cy="5143501"/>
          </a:xfrm>
          <a:prstGeom prst="rect">
            <a:avLst/>
          </a:prstGeom>
          <a:ln w="3175">
            <a:miter lim="400000"/>
          </a:ln>
        </p:spPr>
      </p:pic>
      <p:sp>
        <p:nvSpPr>
          <p:cNvPr id="305" name="Mean: 0 / 8"/>
          <p:cNvSpPr txBox="1"/>
          <p:nvPr/>
        </p:nvSpPr>
        <p:spPr>
          <a:xfrm>
            <a:off x="10477499" y="2278704"/>
            <a:ext cx="4889501" cy="649591"/>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4300">
                <a:solidFill>
                  <a:srgbClr val="087F8A"/>
                </a:solidFill>
                <a:latin typeface="Arial"/>
                <a:ea typeface="Arial"/>
                <a:cs typeface="Arial"/>
                <a:sym typeface="Arial"/>
              </a:defRPr>
            </a:lvl1pPr>
          </a:lstStyle>
          <a:p>
            <a:pPr/>
            <a:r>
              <a:t>Mean: 0 / 8</a:t>
            </a:r>
          </a:p>
        </p:txBody>
      </p:sp>
      <p:sp>
        <p:nvSpPr>
          <p:cNvPr id="306" name="New low-to-high errors…"/>
          <p:cNvSpPr txBox="1"/>
          <p:nvPr/>
        </p:nvSpPr>
        <p:spPr>
          <a:xfrm>
            <a:off x="10477500" y="3232466"/>
            <a:ext cx="4889500" cy="116409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2700">
                <a:solidFill>
                  <a:srgbClr val="1D3F54"/>
                </a:solidFill>
                <a:latin typeface="Arial"/>
                <a:ea typeface="Arial"/>
                <a:cs typeface="Arial"/>
                <a:sym typeface="Arial"/>
              </a:defRPr>
            </a:pPr>
            <a:r>
              <a:t>New low-to-high errors</a:t>
            </a:r>
          </a:p>
          <a:p>
            <a:pPr>
              <a:defRPr sz="2700">
                <a:solidFill>
                  <a:srgbClr val="1D3F54"/>
                </a:solidFill>
                <a:latin typeface="Arial"/>
                <a:ea typeface="Arial"/>
                <a:cs typeface="Arial"/>
                <a:sym typeface="Arial"/>
              </a:defRPr>
            </a:pPr>
            <a:r>
              <a:t>at every tested GP4/5 dose</a:t>
            </a:r>
          </a:p>
        </p:txBody>
      </p:sp>
      <p:sp>
        <p:nvSpPr>
          <p:cNvPr id="307" name="Top 1% at 10%: 2/2…"/>
          <p:cNvSpPr txBox="1"/>
          <p:nvPr/>
        </p:nvSpPr>
        <p:spPr>
          <a:xfrm>
            <a:off x="10477499" y="5375077"/>
            <a:ext cx="4889501" cy="118784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b="1" sz="2800">
                <a:solidFill>
                  <a:srgbClr val="B3781B"/>
                </a:solidFill>
                <a:latin typeface="Arial"/>
                <a:ea typeface="Arial"/>
                <a:cs typeface="Arial"/>
                <a:sym typeface="Arial"/>
              </a:defRPr>
            </a:pPr>
            <a:r>
              <a:t>Top 1% at 10%: 2/2</a:t>
            </a:r>
          </a:p>
          <a:p>
            <a:pPr>
              <a:defRPr b="1" sz="2800">
                <a:solidFill>
                  <a:srgbClr val="B3781B"/>
                </a:solidFill>
                <a:latin typeface="Arial"/>
                <a:ea typeface="Arial"/>
                <a:cs typeface="Arial"/>
                <a:sym typeface="Arial"/>
              </a:defRPr>
            </a:pPr>
            <a:r>
              <a:t>Top 5% at 10%: 3/3</a:t>
            </a:r>
          </a:p>
        </p:txBody>
      </p:sp>
      <p:sp>
        <p:nvSpPr>
          <p:cNvPr id="308" name="Same-grade GP3 control also causes 1/3 top-5% new errors at 10%. A binary flip is not a clinical Grade Group upgrade."/>
          <p:cNvSpPr txBox="1"/>
          <p:nvPr/>
        </p:nvSpPr>
        <p:spPr>
          <a:xfrm>
            <a:off x="889000" y="7835589"/>
            <a:ext cx="14224000" cy="71182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400">
                <a:solidFill>
                  <a:srgbClr val="B3781B"/>
                </a:solidFill>
                <a:latin typeface="Arial"/>
                <a:ea typeface="Arial"/>
                <a:cs typeface="Arial"/>
                <a:sym typeface="Arial"/>
              </a:defRPr>
            </a:lvl1pPr>
          </a:lstStyle>
          <a:p>
            <a:pPr/>
            <a:r>
              <a:t>Same-grade GP3 control also causes 1/3 top-5% new errors at 10%. A binary flip is not a clinical Grade Group upgrade.</a:t>
            </a:r>
          </a:p>
        </p:txBody>
      </p:sp>
      <p:sp>
        <p:nvSpPr>
          <p:cNvPr id="309" name="X: requested foreign / original-host tile percentage (ceil-rounded counts)"/>
          <p:cNvSpPr txBox="1"/>
          <p:nvPr/>
        </p:nvSpPr>
        <p:spPr>
          <a:xfrm>
            <a:off x="889000" y="7160964"/>
            <a:ext cx="9080501" cy="29209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700">
                <a:solidFill>
                  <a:srgbClr val="6B7A87"/>
                </a:solidFill>
                <a:latin typeface="Arial"/>
                <a:ea typeface="Arial"/>
                <a:cs typeface="Arial"/>
                <a:sym typeface="Arial"/>
              </a:defRPr>
            </a:lvl1pPr>
          </a:lstStyle>
          <a:p>
            <a:pPr/>
            <a:r>
              <a:t>X: requested foreign / original-host tile percentage (ceil-rounded counts)</a:t>
            </a:r>
          </a:p>
        </p:txBody>
      </p:sp>
      <p:sp>
        <p:nvSpPr>
          <p:cNvPr id="310" name="14"/>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14</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4" name="Detector v2: a separately versioned ranking study"/>
          <p:cNvSpPr txBox="1"/>
          <p:nvPr/>
        </p:nvSpPr>
        <p:spPr>
          <a:xfrm>
            <a:off x="889000" y="1083450"/>
            <a:ext cx="14478001"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Detector v2: a separately versioned ranking study</a:t>
            </a:r>
          </a:p>
        </p:txBody>
      </p:sp>
      <p:sp>
        <p:nvSpPr>
          <p:cNvPr id="315" name="Training selects rank threshold and review cap"/>
          <p:cNvSpPr txBox="1"/>
          <p:nvPr/>
        </p:nvSpPr>
        <p:spPr>
          <a:xfrm>
            <a:off x="889000" y="1990254"/>
            <a:ext cx="14097000" cy="46449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000">
                <a:solidFill>
                  <a:srgbClr val="087F8A"/>
                </a:solidFill>
                <a:latin typeface="Arial"/>
                <a:ea typeface="Arial"/>
                <a:cs typeface="Arial"/>
                <a:sym typeface="Arial"/>
              </a:defRPr>
            </a:lvl1pPr>
          </a:lstStyle>
          <a:p>
            <a:pPr/>
            <a:r>
              <a:t>Training selects rank threshold and review cap</a:t>
            </a:r>
          </a:p>
        </p:txBody>
      </p:sp>
      <p:sp>
        <p:nvSpPr>
          <p:cNvPr id="316" name="Visual anomaly and prediction influence become separate rank features. Geometry contributes observed area and isolation."/>
          <p:cNvSpPr txBox="1"/>
          <p:nvPr/>
        </p:nvSpPr>
        <p:spPr>
          <a:xfrm>
            <a:off x="889000" y="3541571"/>
            <a:ext cx="14097000" cy="85435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000">
                <a:solidFill>
                  <a:srgbClr val="1D3F54"/>
                </a:solidFill>
                <a:latin typeface="Arial"/>
                <a:ea typeface="Arial"/>
                <a:cs typeface="Arial"/>
                <a:sym typeface="Arial"/>
              </a:defRPr>
            </a:lvl1pPr>
          </a:lstStyle>
          <a:p>
            <a:pPr/>
            <a:r>
              <a:t>Visual anomaly and prediction influence become separate rank features. Geometry contributes observed area and isolation.</a:t>
            </a:r>
          </a:p>
        </p:txBody>
      </p:sp>
      <p:sp>
        <p:nvSpPr>
          <p:cNvPr id="317" name="Native annotation, injection truth and donor identity enter evaluation only. They never enter the blinded review features."/>
          <p:cNvSpPr txBox="1"/>
          <p:nvPr/>
        </p:nvSpPr>
        <p:spPr>
          <a:xfrm>
            <a:off x="889000" y="5799705"/>
            <a:ext cx="14097000" cy="78309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700">
                <a:solidFill>
                  <a:srgbClr val="1D3F54"/>
                </a:solidFill>
                <a:latin typeface="Arial"/>
                <a:ea typeface="Arial"/>
                <a:cs typeface="Arial"/>
                <a:sym typeface="Arial"/>
              </a:defRPr>
            </a:lvl1pPr>
          </a:lstStyle>
          <a:p>
            <a:pPr/>
            <a:r>
              <a:t>Native annotation, injection truth and donor identity enter evaluation only. They never enter the blinded review features.</a:t>
            </a:r>
          </a:p>
        </p:txBody>
      </p:sp>
      <p:sp>
        <p:nvSpPr>
          <p:cNvPr id="318" name="Known calibration outcomes make this iterative development, not independent validation."/>
          <p:cNvSpPr txBox="1"/>
          <p:nvPr/>
        </p:nvSpPr>
        <p:spPr>
          <a:xfrm>
            <a:off x="889000" y="7958215"/>
            <a:ext cx="14097000" cy="40307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500">
                <a:solidFill>
                  <a:srgbClr val="B3781B"/>
                </a:solidFill>
                <a:latin typeface="Arial"/>
                <a:ea typeface="Arial"/>
                <a:cs typeface="Arial"/>
                <a:sym typeface="Arial"/>
              </a:defRPr>
            </a:lvl1pPr>
          </a:lstStyle>
          <a:p>
            <a:pPr/>
            <a:r>
              <a:t>Known calibration outcomes make this iterative development, not independent validation.</a:t>
            </a:r>
          </a:p>
        </p:txBody>
      </p:sp>
      <p:sp>
        <p:nvSpPr>
          <p:cNvPr id="319" name="15"/>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15</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3" name="Ranked review still fails useful calibration recall"/>
          <p:cNvSpPr txBox="1"/>
          <p:nvPr/>
        </p:nvSpPr>
        <p:spPr>
          <a:xfrm>
            <a:off x="889000" y="1083450"/>
            <a:ext cx="14478000"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Ranked review still fails useful calibration recall</a:t>
            </a:r>
          </a:p>
        </p:txBody>
      </p:sp>
      <p:graphicFrame>
        <p:nvGraphicFramePr>
          <p:cNvPr id="324" name="Table 1"/>
          <p:cNvGraphicFramePr/>
          <p:nvPr/>
        </p:nvGraphicFramePr>
        <p:xfrm>
          <a:off x="825500" y="2159000"/>
          <a:ext cx="4854223" cy="4967112"/>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5778500"/>
                <a:gridCol w="2857500"/>
                <a:gridCol w="3302000"/>
                <a:gridCol w="2667000"/>
              </a:tblGrid>
              <a:tr h="863600">
                <a:tc>
                  <a:txBody>
                    <a:bodyPr/>
                    <a:lstStyle/>
                    <a:p>
                      <a:pPr defTabSz="914400">
                        <a:tabLst>
                          <a:tab pos="1104900" algn="l"/>
                        </a:tabLst>
                        <a:defRPr b="0" sz="1800"/>
                      </a:pPr>
                      <a:r>
                        <a:rPr b="1" sz="2300">
                          <a:solidFill>
                            <a:srgbClr val="FFFFFF"/>
                          </a:solidFill>
                          <a:latin typeface="Arial"/>
                          <a:ea typeface="Arial"/>
                          <a:cs typeface="Arial"/>
                          <a:sym typeface="Arial"/>
                        </a:rPr>
                        <a:t>Ranked-review condition</a:t>
                      </a:r>
                    </a:p>
                  </a:txBody>
                  <a:tcPr marL="50800" marR="50800" marT="50800" marB="50800" anchor="ctr" anchorCtr="0" horzOverflow="overflow">
                    <a:solidFill>
                      <a:srgbClr val="087F8A"/>
                    </a:solidFill>
                  </a:tcPr>
                </a:tc>
                <a:tc>
                  <a:txBody>
                    <a:bodyPr/>
                    <a:lstStyle/>
                    <a:p>
                      <a:pPr defTabSz="914400">
                        <a:tabLst>
                          <a:tab pos="1104900" algn="l"/>
                        </a:tabLst>
                        <a:defRPr b="0" sz="1800"/>
                      </a:pPr>
                      <a:r>
                        <a:rPr b="1" sz="2300">
                          <a:solidFill>
                            <a:srgbClr val="FFFFFF"/>
                          </a:solidFill>
                          <a:latin typeface="Arial"/>
                          <a:ea typeface="Arial"/>
                          <a:cs typeface="Arial"/>
                          <a:sym typeface="Arial"/>
                        </a:rPr>
                        <a:t>Fragments hit</a:t>
                      </a:r>
                    </a:p>
                  </a:txBody>
                  <a:tcPr marL="50800" marR="50800" marT="50800" marB="50800" anchor="ctr" anchorCtr="0" horzOverflow="overflow">
                    <a:solidFill>
                      <a:srgbClr val="087F8A"/>
                    </a:solidFill>
                  </a:tcPr>
                </a:tc>
                <a:tc>
                  <a:txBody>
                    <a:bodyPr/>
                    <a:lstStyle/>
                    <a:p>
                      <a:pPr defTabSz="914400">
                        <a:tabLst>
                          <a:tab pos="1104900" algn="l"/>
                        </a:tabLst>
                        <a:defRPr b="0" sz="1800"/>
                      </a:pPr>
                      <a:r>
                        <a:rPr b="1" sz="2300">
                          <a:solidFill>
                            <a:srgbClr val="FFFFFF"/>
                          </a:solidFill>
                          <a:latin typeface="Arial"/>
                          <a:ea typeface="Arial"/>
                          <a:cs typeface="Arial"/>
                          <a:sym typeface="Arial"/>
                        </a:rPr>
                        <a:t>Clean slides alerted</a:t>
                      </a:r>
                    </a:p>
                  </a:txBody>
                  <a:tcPr marL="50800" marR="50800" marT="50800" marB="50800" anchor="ctr" anchorCtr="0" horzOverflow="overflow">
                    <a:solidFill>
                      <a:srgbClr val="087F8A"/>
                    </a:solidFill>
                  </a:tcPr>
                </a:tc>
                <a:tc>
                  <a:txBody>
                    <a:bodyPr/>
                    <a:lstStyle/>
                    <a:p>
                      <a:pPr defTabSz="914400">
                        <a:tabLst>
                          <a:tab pos="1104900" algn="l"/>
                        </a:tabLst>
                        <a:defRPr b="0" sz="1800"/>
                      </a:pPr>
                      <a:r>
                        <a:rPr b="1" sz="2300">
                          <a:solidFill>
                            <a:srgbClr val="FFFFFF"/>
                          </a:solidFill>
                          <a:latin typeface="Arial"/>
                          <a:ea typeface="Arial"/>
                          <a:cs typeface="Arial"/>
                          <a:sym typeface="Arial"/>
                        </a:rPr>
                        <a:t>Clean damage</a:t>
                      </a:r>
                    </a:p>
                  </a:txBody>
                  <a:tcPr marL="50800" marR="50800" marT="50800" marB="50800" anchor="ctr" anchorCtr="0" horzOverflow="overflow">
                    <a:solidFill>
                      <a:srgbClr val="087F8A"/>
                    </a:solidFill>
                  </a:tcPr>
                </a:tc>
              </a:tr>
              <a:tr h="863600">
                <a:tc>
                  <a:txBody>
                    <a:bodyPr/>
                    <a:lstStyle/>
                    <a:p>
                      <a:pPr defTabSz="914400">
                        <a:defRPr sz="1800"/>
                      </a:pPr>
                      <a:r>
                        <a:rPr sz="2300">
                          <a:solidFill>
                            <a:srgbClr val="1D3F54"/>
                          </a:solidFill>
                          <a:latin typeface="Arial"/>
                          <a:ea typeface="Arial"/>
                          <a:cs typeface="Arial"/>
                          <a:sym typeface="Arial"/>
                        </a:rPr>
                        <a:t>Selected combined, train</a:t>
                      </a:r>
                    </a:p>
                  </a:txBody>
                  <a:tcPr marL="50800" marR="50800" marT="50800" marB="50800" anchor="ctr" anchorCtr="0" horzOverflow="overflow">
                    <a:solidFill>
                      <a:srgbClr val="FFFFFF"/>
                    </a:solidFill>
                  </a:tcPr>
                </a:tc>
                <a:tc>
                  <a:txBody>
                    <a:bodyPr/>
                    <a:lstStyle/>
                    <a:p>
                      <a:pPr defTabSz="914400">
                        <a:defRPr sz="1800"/>
                      </a:pPr>
                      <a:r>
                        <a:rPr sz="2300">
                          <a:solidFill>
                            <a:srgbClr val="1D3F54"/>
                          </a:solidFill>
                          <a:latin typeface="Arial"/>
                          <a:ea typeface="Arial"/>
                          <a:cs typeface="Arial"/>
                          <a:sym typeface="Arial"/>
                        </a:rPr>
                        <a:t>22 / 120</a:t>
                      </a:r>
                    </a:p>
                  </a:txBody>
                  <a:tcPr marL="50800" marR="50800" marT="50800" marB="50800" anchor="ctr" anchorCtr="0" horzOverflow="overflow">
                    <a:solidFill>
                      <a:srgbClr val="FFFFFF"/>
                    </a:solidFill>
                  </a:tcPr>
                </a:tc>
                <a:tc>
                  <a:txBody>
                    <a:bodyPr/>
                    <a:lstStyle/>
                    <a:p>
                      <a:pPr defTabSz="914400">
                        <a:defRPr sz="1800"/>
                      </a:pPr>
                      <a:r>
                        <a:rPr sz="2300">
                          <a:solidFill>
                            <a:srgbClr val="1D3F54"/>
                          </a:solidFill>
                          <a:latin typeface="Arial"/>
                          <a:ea typeface="Arial"/>
                          <a:cs typeface="Arial"/>
                          <a:sym typeface="Arial"/>
                        </a:rPr>
                        <a:t>3 / 72</a:t>
                      </a:r>
                    </a:p>
                  </a:txBody>
                  <a:tcPr marL="50800" marR="50800" marT="50800" marB="50800" anchor="ctr" anchorCtr="0" horzOverflow="overflow">
                    <a:solidFill>
                      <a:srgbClr val="FFFFFF"/>
                    </a:solidFill>
                  </a:tcPr>
                </a:tc>
                <a:tc>
                  <a:txBody>
                    <a:bodyPr/>
                    <a:lstStyle/>
                    <a:p>
                      <a:pPr defTabSz="914400">
                        <a:defRPr sz="1800"/>
                      </a:pPr>
                      <a:r>
                        <a:rPr sz="2300">
                          <a:solidFill>
                            <a:srgbClr val="1D3F54"/>
                          </a:solidFill>
                          <a:latin typeface="Arial"/>
                          <a:ea typeface="Arial"/>
                          <a:cs typeface="Arial"/>
                          <a:sym typeface="Arial"/>
                        </a:rPr>
                        <a:t>3 / 61</a:t>
                      </a:r>
                    </a:p>
                  </a:txBody>
                  <a:tcPr marL="50800" marR="50800" marT="50800" marB="50800" anchor="ctr" anchorCtr="0" horzOverflow="overflow">
                    <a:solidFill>
                      <a:srgbClr val="FFFFFF"/>
                    </a:solidFill>
                  </a:tcPr>
                </a:tc>
              </a:tr>
              <a:tr h="863600">
                <a:tc>
                  <a:txBody>
                    <a:bodyPr/>
                    <a:lstStyle/>
                    <a:p>
                      <a:pPr defTabSz="914400">
                        <a:defRPr sz="1800"/>
                      </a:pPr>
                      <a:r>
                        <a:rPr sz="2300">
                          <a:solidFill>
                            <a:srgbClr val="1D3F54"/>
                          </a:solidFill>
                          <a:latin typeface="Arial"/>
                          <a:ea typeface="Arial"/>
                          <a:cs typeface="Arial"/>
                          <a:sym typeface="Arial"/>
                        </a:rPr>
                        <a:t>Selected combined, known cal</a:t>
                      </a:r>
                    </a:p>
                  </a:txBody>
                  <a:tcPr marL="50800" marR="50800" marT="50800" marB="50800" anchor="ctr" anchorCtr="0" horzOverflow="overflow">
                    <a:solidFill>
                      <a:srgbClr val="FFFFFF"/>
                    </a:solidFill>
                  </a:tcPr>
                </a:tc>
                <a:tc>
                  <a:txBody>
                    <a:bodyPr/>
                    <a:lstStyle/>
                    <a:p>
                      <a:pPr defTabSz="914400">
                        <a:defRPr sz="1800"/>
                      </a:pPr>
                      <a:r>
                        <a:rPr sz="2300">
                          <a:solidFill>
                            <a:srgbClr val="1D3F54"/>
                          </a:solidFill>
                          <a:latin typeface="Arial"/>
                          <a:ea typeface="Arial"/>
                          <a:cs typeface="Arial"/>
                          <a:sym typeface="Arial"/>
                        </a:rPr>
                        <a:t>0 / 40</a:t>
                      </a:r>
                    </a:p>
                  </a:txBody>
                  <a:tcPr marL="50800" marR="50800" marT="50800" marB="50800" anchor="ctr" anchorCtr="0" horzOverflow="overflow">
                    <a:solidFill>
                      <a:srgbClr val="FFFFFF"/>
                    </a:solidFill>
                  </a:tcPr>
                </a:tc>
                <a:tc>
                  <a:txBody>
                    <a:bodyPr/>
                    <a:lstStyle/>
                    <a:p>
                      <a:pPr defTabSz="914400">
                        <a:defRPr sz="1800"/>
                      </a:pPr>
                      <a:r>
                        <a:rPr sz="2300">
                          <a:solidFill>
                            <a:srgbClr val="1D3F54"/>
                          </a:solidFill>
                          <a:latin typeface="Arial"/>
                          <a:ea typeface="Arial"/>
                          <a:cs typeface="Arial"/>
                          <a:sym typeface="Arial"/>
                        </a:rPr>
                        <a:t>1 / 24</a:t>
                      </a:r>
                    </a:p>
                  </a:txBody>
                  <a:tcPr marL="50800" marR="50800" marT="50800" marB="50800" anchor="ctr" anchorCtr="0" horzOverflow="overflow">
                    <a:solidFill>
                      <a:srgbClr val="FFFFFF"/>
                    </a:solidFill>
                  </a:tcPr>
                </a:tc>
                <a:tc>
                  <a:txBody>
                    <a:bodyPr/>
                    <a:lstStyle/>
                    <a:p>
                      <a:pPr defTabSz="914400">
                        <a:defRPr sz="1800"/>
                      </a:pPr>
                      <a:r>
                        <a:rPr sz="2300">
                          <a:solidFill>
                            <a:srgbClr val="1D3F54"/>
                          </a:solidFill>
                          <a:latin typeface="Arial"/>
                          <a:ea typeface="Arial"/>
                          <a:cs typeface="Arial"/>
                          <a:sym typeface="Arial"/>
                        </a:rPr>
                        <a:t>0 / 20</a:t>
                      </a:r>
                    </a:p>
                  </a:txBody>
                  <a:tcPr marL="50800" marR="50800" marT="50800" marB="50800" anchor="ctr" anchorCtr="0" horzOverflow="overflow">
                    <a:solidFill>
                      <a:srgbClr val="FFFFFF"/>
                    </a:solidFill>
                  </a:tcPr>
                </a:tc>
              </a:tr>
              <a:tr h="863600">
                <a:tc>
                  <a:txBody>
                    <a:bodyPr/>
                    <a:lstStyle/>
                    <a:p>
                      <a:pPr defTabSz="914400">
                        <a:defRPr sz="1800"/>
                      </a:pPr>
                      <a:r>
                        <a:rPr sz="2300">
                          <a:solidFill>
                            <a:srgbClr val="1D3F54"/>
                          </a:solidFill>
                          <a:latin typeface="Arial"/>
                          <a:ea typeface="Arial"/>
                          <a:cs typeface="Arial"/>
                          <a:sym typeface="Arial"/>
                        </a:rPr>
                        <a:t>Top-one visual + relevance, cal</a:t>
                      </a:r>
                    </a:p>
                  </a:txBody>
                  <a:tcPr marL="50800" marR="50800" marT="50800" marB="50800" anchor="ctr" anchorCtr="0" horzOverflow="overflow">
                    <a:solidFill>
                      <a:srgbClr val="FFFFFF"/>
                    </a:solidFill>
                  </a:tcPr>
                </a:tc>
                <a:tc>
                  <a:txBody>
                    <a:bodyPr/>
                    <a:lstStyle/>
                    <a:p>
                      <a:pPr defTabSz="914400">
                        <a:defRPr sz="1800"/>
                      </a:pPr>
                      <a:r>
                        <a:rPr sz="2300">
                          <a:solidFill>
                            <a:srgbClr val="1D3F54"/>
                          </a:solidFill>
                          <a:latin typeface="Arial"/>
                          <a:ea typeface="Arial"/>
                          <a:cs typeface="Arial"/>
                          <a:sym typeface="Arial"/>
                        </a:rPr>
                        <a:t>21 / 40</a:t>
                      </a:r>
                    </a:p>
                  </a:txBody>
                  <a:tcPr marL="50800" marR="50800" marT="50800" marB="50800" anchor="ctr" anchorCtr="0" horzOverflow="overflow">
                    <a:solidFill>
                      <a:srgbClr val="FFFFFF"/>
                    </a:solidFill>
                  </a:tcPr>
                </a:tc>
                <a:tc>
                  <a:txBody>
                    <a:bodyPr/>
                    <a:lstStyle/>
                    <a:p>
                      <a:pPr defTabSz="914400">
                        <a:defRPr sz="1800"/>
                      </a:pPr>
                      <a:r>
                        <a:rPr sz="2300">
                          <a:solidFill>
                            <a:srgbClr val="1D3F54"/>
                          </a:solidFill>
                          <a:latin typeface="Arial"/>
                          <a:ea typeface="Arial"/>
                          <a:cs typeface="Arial"/>
                          <a:sym typeface="Arial"/>
                        </a:rPr>
                        <a:t>24 / 24</a:t>
                      </a:r>
                    </a:p>
                  </a:txBody>
                  <a:tcPr marL="50800" marR="50800" marT="50800" marB="50800" anchor="ctr" anchorCtr="0" horzOverflow="overflow">
                    <a:solidFill>
                      <a:srgbClr val="FFFFFF"/>
                    </a:solidFill>
                  </a:tcPr>
                </a:tc>
                <a:tc>
                  <a:txBody>
                    <a:bodyPr/>
                    <a:lstStyle/>
                    <a:p>
                      <a:pPr defTabSz="914400">
                        <a:defRPr sz="1800"/>
                      </a:pPr>
                      <a:r>
                        <a:rPr sz="2300">
                          <a:solidFill>
                            <a:srgbClr val="1D3F54"/>
                          </a:solidFill>
                          <a:latin typeface="Arial"/>
                          <a:ea typeface="Arial"/>
                          <a:cs typeface="Arial"/>
                          <a:sym typeface="Arial"/>
                        </a:rPr>
                        <a:t>2 / 20</a:t>
                      </a:r>
                    </a:p>
                  </a:txBody>
                  <a:tcPr marL="50800" marR="50800" marT="50800" marB="50800" anchor="ctr" anchorCtr="0" horzOverflow="overflow">
                    <a:solidFill>
                      <a:srgbClr val="FFFFFF"/>
                    </a:solidFill>
                  </a:tcPr>
                </a:tc>
              </a:tr>
            </a:tbl>
          </a:graphicData>
        </a:graphic>
      </p:graphicFrame>
      <p:sp>
        <p:nvSpPr>
          <p:cNvPr id="325" name="Unbudgeted top-one review flags 14 native cancer components. It exceeds both review-burden targets."/>
          <p:cNvSpPr txBox="1"/>
          <p:nvPr/>
        </p:nvSpPr>
        <p:spPr>
          <a:xfrm>
            <a:off x="889000" y="6434705"/>
            <a:ext cx="14224000" cy="78309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700">
                <a:solidFill>
                  <a:srgbClr val="B3781B"/>
                </a:solidFill>
                <a:latin typeface="Arial"/>
                <a:ea typeface="Arial"/>
                <a:cs typeface="Arial"/>
                <a:sym typeface="Arial"/>
              </a:defRPr>
            </a:lvl1pPr>
          </a:lstStyle>
          <a:p>
            <a:pPr/>
            <a:r>
              <a:t>Unbudgeted top-one review flags 14 native cancer components. It exceeds both review-burden targets.</a:t>
            </a:r>
          </a:p>
        </p:txBody>
      </p:sp>
      <p:sp>
        <p:nvSpPr>
          <p:cNvPr id="326" name="No supported v2 policy and no validated useful improvement over v1. The 24-slide final test remains blocked."/>
          <p:cNvSpPr txBox="1"/>
          <p:nvPr/>
        </p:nvSpPr>
        <p:spPr>
          <a:xfrm>
            <a:off x="889000" y="7918961"/>
            <a:ext cx="14224000" cy="73557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500">
                <a:solidFill>
                  <a:srgbClr val="B95C51"/>
                </a:solidFill>
                <a:latin typeface="Arial"/>
                <a:ea typeface="Arial"/>
                <a:cs typeface="Arial"/>
                <a:sym typeface="Arial"/>
              </a:defRPr>
            </a:lvl1pPr>
          </a:lstStyle>
          <a:p>
            <a:pPr/>
            <a:r>
              <a:t>No supported v2 policy and no validated useful improvement over v1. The 24-slide final test remains blocked.</a:t>
            </a:r>
          </a:p>
        </p:txBody>
      </p:sp>
      <p:sp>
        <p:nvSpPr>
          <p:cNvPr id="327" name="16"/>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16</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1" name="What the experiment demonstrates"/>
          <p:cNvSpPr txBox="1"/>
          <p:nvPr/>
        </p:nvSpPr>
        <p:spPr>
          <a:xfrm>
            <a:off x="889000" y="1083450"/>
            <a:ext cx="14478001"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What the experiment demonstrates</a:t>
            </a:r>
          </a:p>
        </p:txBody>
      </p:sp>
      <p:sp>
        <p:nvSpPr>
          <p:cNvPr id="332" name="Demonstrated"/>
          <p:cNvSpPr txBox="1"/>
          <p:nvPr/>
        </p:nvSpPr>
        <p:spPr>
          <a:xfrm>
            <a:off x="888999" y="1946012"/>
            <a:ext cx="6350001" cy="48947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100">
                <a:solidFill>
                  <a:srgbClr val="087F8A"/>
                </a:solidFill>
                <a:latin typeface="Arial"/>
                <a:ea typeface="Arial"/>
                <a:cs typeface="Arial"/>
                <a:sym typeface="Arial"/>
              </a:defRPr>
            </a:lvl1pPr>
          </a:lstStyle>
          <a:p>
            <a:pPr/>
            <a:r>
              <a:t>Demonstrated</a:t>
            </a:r>
          </a:p>
        </p:txBody>
      </p:sp>
      <p:sp>
        <p:nvSpPr>
          <p:cNvPr id="333" name="Verified PANDA-to-CONCH pipeline…"/>
          <p:cNvSpPr txBox="1"/>
          <p:nvPr/>
        </p:nvSpPr>
        <p:spPr>
          <a:xfrm>
            <a:off x="889000" y="3412253"/>
            <a:ext cx="6985000" cy="263699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2700">
                <a:solidFill>
                  <a:srgbClr val="1D3F54"/>
                </a:solidFill>
                <a:latin typeface="Arial"/>
                <a:ea typeface="Arial"/>
                <a:cs typeface="Arial"/>
                <a:sym typeface="Arial"/>
              </a:defRPr>
            </a:pPr>
            <a:r>
              <a:t>Verified PANDA-to-CONCH pipeline</a:t>
            </a:r>
          </a:p>
          <a:p>
            <a:pPr>
              <a:defRPr sz="2700">
                <a:solidFill>
                  <a:srgbClr val="1D3F54"/>
                </a:solidFill>
                <a:latin typeface="Arial"/>
                <a:ea typeface="Arial"/>
                <a:cs typeface="Arial"/>
                <a:sym typeface="Arial"/>
              </a:defRPr>
            </a:pPr>
            <a:r>
              <a:t>S1 synthetic model-sensitivity effects</a:t>
            </a:r>
          </a:p>
          <a:p>
            <a:pPr>
              <a:defRPr sz="2700">
                <a:solidFill>
                  <a:srgbClr val="1D3F54"/>
                </a:solidFill>
                <a:latin typeface="Arial"/>
                <a:ea typeface="Arial"/>
                <a:cs typeface="Arial"/>
                <a:sym typeface="Arial"/>
              </a:defRPr>
            </a:pPr>
            <a:r>
              <a:t>S2 null primary calibration outcome</a:t>
            </a:r>
          </a:p>
          <a:p>
            <a:pPr>
              <a:defRPr sz="2700">
                <a:solidFill>
                  <a:srgbClr val="1D3F54"/>
                </a:solidFill>
                <a:latin typeface="Arial"/>
                <a:ea typeface="Arial"/>
                <a:cs typeface="Arial"/>
                <a:sym typeface="Arial"/>
              </a:defRPr>
            </a:pPr>
            <a:r>
              <a:t>Two review policies rejected honestly</a:t>
            </a:r>
          </a:p>
        </p:txBody>
      </p:sp>
      <p:sp>
        <p:nvSpPr>
          <p:cNvPr id="334" name="Still unverified"/>
          <p:cNvSpPr txBox="1"/>
          <p:nvPr/>
        </p:nvSpPr>
        <p:spPr>
          <a:xfrm>
            <a:off x="9143999" y="1946012"/>
            <a:ext cx="6223001" cy="48947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100">
                <a:solidFill>
                  <a:srgbClr val="B3781B"/>
                </a:solidFill>
                <a:latin typeface="Arial"/>
                <a:ea typeface="Arial"/>
                <a:cs typeface="Arial"/>
                <a:sym typeface="Arial"/>
              </a:defRPr>
            </a:lvl1pPr>
          </a:lstStyle>
          <a:p>
            <a:pPr/>
            <a:r>
              <a:t>Still unverified</a:t>
            </a:r>
          </a:p>
        </p:txBody>
      </p:sp>
      <p:sp>
        <p:nvSpPr>
          <p:cNvPr id="335" name="Naturally occurring floater detection…"/>
          <p:cNvSpPr txBox="1"/>
          <p:nvPr/>
        </p:nvSpPr>
        <p:spPr>
          <a:xfrm>
            <a:off x="9144000" y="2976775"/>
            <a:ext cx="6223000" cy="263699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2700">
                <a:solidFill>
                  <a:srgbClr val="1D3F54"/>
                </a:solidFill>
                <a:latin typeface="Arial"/>
                <a:ea typeface="Arial"/>
                <a:cs typeface="Arial"/>
                <a:sym typeface="Arial"/>
              </a:defRPr>
            </a:pPr>
            <a:r>
              <a:t>Naturally occurring floater detection</a:t>
            </a:r>
          </a:p>
          <a:p>
            <a:pPr>
              <a:defRPr sz="2700">
                <a:solidFill>
                  <a:srgbClr val="1D3F54"/>
                </a:solidFill>
                <a:latin typeface="Arial"/>
                <a:ea typeface="Arial"/>
                <a:cs typeface="Arial"/>
                <a:sym typeface="Arial"/>
              </a:defRPr>
            </a:pPr>
            <a:r>
              <a:t>Patient-level independence</a:t>
            </a:r>
          </a:p>
          <a:p>
            <a:pPr>
              <a:defRPr sz="2700">
                <a:solidFill>
                  <a:srgbClr val="1D3F54"/>
                </a:solidFill>
                <a:latin typeface="Arial"/>
                <a:ea typeface="Arial"/>
                <a:cs typeface="Arial"/>
                <a:sym typeface="Arial"/>
              </a:defRPr>
            </a:pPr>
            <a:r>
              <a:t>Clinical cancer or grading validity</a:t>
            </a:r>
          </a:p>
          <a:p>
            <a:pPr>
              <a:defRPr sz="2700">
                <a:solidFill>
                  <a:srgbClr val="1D3F54"/>
                </a:solidFill>
                <a:latin typeface="Arial"/>
                <a:ea typeface="Arial"/>
                <a:cs typeface="Arial"/>
                <a:sym typeface="Arial"/>
              </a:defRPr>
            </a:pPr>
            <a:r>
              <a:t>Independent final-test performance</a:t>
            </a:r>
          </a:p>
        </p:txBody>
      </p:sp>
      <p:sp>
        <p:nvSpPr>
          <p:cNvPr id="336" name="Preserving a negative result is part of the safety check."/>
          <p:cNvSpPr txBox="1"/>
          <p:nvPr/>
        </p:nvSpPr>
        <p:spPr>
          <a:xfrm>
            <a:off x="889000" y="7610004"/>
            <a:ext cx="14224000" cy="46449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000">
                <a:solidFill>
                  <a:srgbClr val="1D3F54"/>
                </a:solidFill>
                <a:latin typeface="Arial"/>
                <a:ea typeface="Arial"/>
                <a:cs typeface="Arial"/>
                <a:sym typeface="Arial"/>
              </a:defRPr>
            </a:lvl1pPr>
          </a:lstStyle>
          <a:p>
            <a:pPr/>
            <a:r>
              <a:t>Preserving a negative result is part of the safety check.</a:t>
            </a:r>
          </a:p>
        </p:txBody>
      </p:sp>
      <p:sp>
        <p:nvSpPr>
          <p:cNvPr id="337" name="17"/>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17</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1" name="Next evidence requires a new scientific gate"/>
          <p:cNvSpPr txBox="1"/>
          <p:nvPr/>
        </p:nvSpPr>
        <p:spPr>
          <a:xfrm>
            <a:off x="889000" y="1083450"/>
            <a:ext cx="14478000"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Next evidence requires a new scientific gate</a:t>
            </a:r>
          </a:p>
        </p:txBody>
      </p:sp>
      <p:sp>
        <p:nvSpPr>
          <p:cNvPr id="342" name="24 final-test slides remain sealed"/>
          <p:cNvSpPr txBox="1"/>
          <p:nvPr/>
        </p:nvSpPr>
        <p:spPr>
          <a:xfrm>
            <a:off x="889000" y="2067908"/>
            <a:ext cx="14478000" cy="56318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700">
                <a:solidFill>
                  <a:srgbClr val="087F8A"/>
                </a:solidFill>
                <a:latin typeface="Arial"/>
                <a:ea typeface="Arial"/>
                <a:cs typeface="Arial"/>
                <a:sym typeface="Arial"/>
              </a:defRPr>
            </a:lvl1pPr>
          </a:lstStyle>
          <a:p>
            <a:pPr/>
            <a:r>
              <a:t>24 final-test slides remain sealed</a:t>
            </a:r>
          </a:p>
        </p:txBody>
      </p:sp>
      <p:sp>
        <p:nvSpPr>
          <p:cNvPr id="343" name="S3: useful review with genuine-cancer preservation and realistic controls.…"/>
          <p:cNvSpPr txBox="1"/>
          <p:nvPr/>
        </p:nvSpPr>
        <p:spPr>
          <a:xfrm>
            <a:off x="889000" y="3794615"/>
            <a:ext cx="14224000" cy="155477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2800">
                <a:solidFill>
                  <a:srgbClr val="1D3F54"/>
                </a:solidFill>
                <a:latin typeface="Arial"/>
                <a:ea typeface="Arial"/>
                <a:cs typeface="Arial"/>
                <a:sym typeface="Arial"/>
              </a:defRPr>
            </a:pPr>
            <a:r>
              <a:t>S3: useful review with genuine-cancer preservation and realistic controls.</a:t>
            </a:r>
          </a:p>
          <a:p>
            <a:pPr>
              <a:defRPr sz="2800">
                <a:solidFill>
                  <a:srgbClr val="1D3F54"/>
                </a:solidFill>
                <a:latin typeface="Arial"/>
                <a:ea typeface="Arial"/>
                <a:cs typeface="Arial"/>
                <a:sym typeface="Arial"/>
              </a:defRPr>
            </a:pPr>
            <a:r>
              <a:t>S4: external institutions and models, after separate approval and embedding-compatibility checks.</a:t>
            </a:r>
          </a:p>
        </p:txBody>
      </p:sp>
      <p:sp>
        <p:nvSpPr>
          <p:cNvPr id="344" name="A useful new policy needs a new frozen protocol and explicit final-test authorization. Additional models or GPU work require a separate scope."/>
          <p:cNvSpPr txBox="1"/>
          <p:nvPr/>
        </p:nvSpPr>
        <p:spPr>
          <a:xfrm>
            <a:off x="889000" y="6688705"/>
            <a:ext cx="14224000" cy="78309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700">
                <a:solidFill>
                  <a:srgbClr val="1D3F54"/>
                </a:solidFill>
                <a:latin typeface="Arial"/>
                <a:ea typeface="Arial"/>
                <a:cs typeface="Arial"/>
                <a:sym typeface="Arial"/>
              </a:defRPr>
            </a:lvl1pPr>
          </a:lstStyle>
          <a:p>
            <a:pPr/>
            <a:r>
              <a:t>A useful new policy needs a new frozen protocol and explicit final-test authorization. Additional models or GPU work require a separate scope.</a:t>
            </a:r>
          </a:p>
        </p:txBody>
      </p:sp>
      <p:sp>
        <p:nvSpPr>
          <p:cNvPr id="345" name="Research prototype. Pathologist review only. No automatic tissue removal."/>
          <p:cNvSpPr txBox="1"/>
          <p:nvPr/>
        </p:nvSpPr>
        <p:spPr>
          <a:xfrm>
            <a:off x="889000" y="8167142"/>
            <a:ext cx="14224000" cy="36621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2200">
                <a:solidFill>
                  <a:srgbClr val="6B7A87"/>
                </a:solidFill>
                <a:latin typeface="Arial"/>
                <a:ea typeface="Arial"/>
                <a:cs typeface="Arial"/>
                <a:sym typeface="Arial"/>
              </a:defRPr>
            </a:lvl1pPr>
          </a:lstStyle>
          <a:p>
            <a:pPr/>
            <a:r>
              <a:t>Research prototype. Pathologist review only. No automatic tissue removal.</a:t>
            </a:r>
          </a:p>
        </p:txBody>
      </p:sp>
      <p:sp>
        <p:nvSpPr>
          <p:cNvPr id="346" name="18"/>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18</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0" name="Sources and reproducibility"/>
          <p:cNvSpPr txBox="1"/>
          <p:nvPr/>
        </p:nvSpPr>
        <p:spPr>
          <a:xfrm>
            <a:off x="889000" y="1083450"/>
            <a:ext cx="14478001" cy="56360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b="1" sz="3600">
                <a:solidFill>
                  <a:srgbClr val="1D3F54"/>
                </a:solidFill>
                <a:latin typeface="Arial"/>
                <a:ea typeface="Arial"/>
                <a:cs typeface="Arial"/>
                <a:sym typeface="Arial"/>
              </a:defRPr>
            </a:lvl1pPr>
          </a:lstStyle>
          <a:p>
            <a:pPr/>
            <a:r>
              <a:t>Sources and reproducibility</a:t>
            </a:r>
          </a:p>
        </p:txBody>
      </p:sp>
      <p:sp>
        <p:nvSpPr>
          <p:cNvPr id="351" name="Clinical context…"/>
          <p:cNvSpPr txBox="1"/>
          <p:nvPr/>
        </p:nvSpPr>
        <p:spPr>
          <a:xfrm>
            <a:off x="889000" y="1866589"/>
            <a:ext cx="14224000" cy="109282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2400">
                <a:solidFill>
                  <a:srgbClr val="1D3F54"/>
                </a:solidFill>
                <a:latin typeface="Arial"/>
                <a:ea typeface="Arial"/>
                <a:cs typeface="Arial"/>
                <a:sym typeface="Arial"/>
              </a:defRPr>
            </a:pPr>
            <a:r>
              <a:t>Clinical context</a:t>
            </a:r>
          </a:p>
          <a:p>
            <a:pPr>
              <a:defRPr sz="2400">
                <a:solidFill>
                  <a:srgbClr val="1D3F54"/>
                </a:solidFill>
                <a:latin typeface="Arial"/>
                <a:ea typeface="Arial"/>
                <a:cs typeface="Arial"/>
                <a:sym typeface="Arial"/>
              </a:defRPr>
            </a:pPr>
            <a:r>
              <a:t>Sapp et al. 2021. doi:10.14309/crj.0000000000000583</a:t>
            </a:r>
          </a:p>
        </p:txBody>
      </p:sp>
      <p:sp>
        <p:nvSpPr>
          <p:cNvPr id="352" name="Foundation model…"/>
          <p:cNvSpPr txBox="1"/>
          <p:nvPr/>
        </p:nvSpPr>
        <p:spPr>
          <a:xfrm>
            <a:off x="889000" y="3327089"/>
            <a:ext cx="14224000" cy="109282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2400">
                <a:solidFill>
                  <a:srgbClr val="1D3F54"/>
                </a:solidFill>
                <a:latin typeface="Arial"/>
                <a:ea typeface="Arial"/>
                <a:cs typeface="Arial"/>
                <a:sym typeface="Arial"/>
              </a:defRPr>
            </a:pPr>
            <a:r>
              <a:t>Foundation model</a:t>
            </a:r>
          </a:p>
          <a:p>
            <a:pPr>
              <a:defRPr sz="2400">
                <a:solidFill>
                  <a:srgbClr val="1D3F54"/>
                </a:solidFill>
                <a:latin typeface="Arial"/>
                <a:ea typeface="Arial"/>
                <a:cs typeface="Arial"/>
                <a:sym typeface="Arial"/>
              </a:defRPr>
            </a:pPr>
            <a:r>
              <a:t>Lu et al. Nature Medicine 2024. doi:10.1038/s41591-024-02856-4</a:t>
            </a:r>
          </a:p>
        </p:txBody>
      </p:sp>
      <p:sp>
        <p:nvSpPr>
          <p:cNvPr id="353" name="Dataset…"/>
          <p:cNvSpPr txBox="1"/>
          <p:nvPr/>
        </p:nvSpPr>
        <p:spPr>
          <a:xfrm>
            <a:off x="889000" y="4787589"/>
            <a:ext cx="14224000" cy="109282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2400">
                <a:solidFill>
                  <a:srgbClr val="1D3F54"/>
                </a:solidFill>
                <a:latin typeface="Arial"/>
                <a:ea typeface="Arial"/>
                <a:cs typeface="Arial"/>
                <a:sym typeface="Arial"/>
              </a:defRPr>
            </a:pPr>
            <a:r>
              <a:t>Dataset</a:t>
            </a:r>
          </a:p>
          <a:p>
            <a:pPr>
              <a:defRPr sz="2400">
                <a:solidFill>
                  <a:srgbClr val="1D3F54"/>
                </a:solidFill>
                <a:latin typeface="Arial"/>
                <a:ea typeface="Arial"/>
                <a:cs typeface="Arial"/>
                <a:sym typeface="Arial"/>
              </a:defRPr>
            </a:pPr>
            <a:r>
              <a:t>Bulten et al. Nature Medicine 2022. doi:10.1038/s41591-021-01620-2</a:t>
            </a:r>
          </a:p>
        </p:txBody>
      </p:sp>
      <p:sp>
        <p:nvSpPr>
          <p:cNvPr id="354" name="Code and measured development evidence…"/>
          <p:cNvSpPr txBox="1"/>
          <p:nvPr/>
        </p:nvSpPr>
        <p:spPr>
          <a:xfrm>
            <a:off x="889000" y="6248089"/>
            <a:ext cx="14224000" cy="109282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2400">
                <a:solidFill>
                  <a:srgbClr val="1D3F54"/>
                </a:solidFill>
                <a:latin typeface="Arial"/>
                <a:ea typeface="Arial"/>
                <a:cs typeface="Arial"/>
                <a:sym typeface="Arial"/>
              </a:defRPr>
            </a:pPr>
            <a:r>
              <a:t>Code and measured development evidence</a:t>
            </a:r>
          </a:p>
          <a:p>
            <a:pPr>
              <a:defRPr sz="2400">
                <a:solidFill>
                  <a:srgbClr val="1D3F54"/>
                </a:solidFill>
                <a:latin typeface="Arial"/>
                <a:ea typeface="Arial"/>
                <a:cs typeface="Arial"/>
                <a:sym typeface="Arial"/>
              </a:defRPr>
            </a:pPr>
            <a:r>
              <a:t>github.com/MuneebHoda/floater-finder/tree/feature/panda-tiling</a:t>
            </a:r>
          </a:p>
        </p:txBody>
      </p:sp>
      <p:sp>
        <p:nvSpPr>
          <p:cNvPr id="355" name="S1/v1 source: 06c7b77. S2 source: 35e0a8. v2 source: 668d9b8.…"/>
          <p:cNvSpPr txBox="1"/>
          <p:nvPr/>
        </p:nvSpPr>
        <p:spPr>
          <a:xfrm>
            <a:off x="889000" y="7716544"/>
            <a:ext cx="14224001" cy="949912"/>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1900">
                <a:solidFill>
                  <a:srgbClr val="6B7A87"/>
                </a:solidFill>
                <a:latin typeface="Arial"/>
                <a:ea typeface="Arial"/>
                <a:cs typeface="Arial"/>
                <a:sym typeface="Arial"/>
              </a:defRPr>
            </a:pPr>
            <a:r>
              <a:t>S1/v1 source: 06c7b77. S2 source: 35e0a8. v2 source: 668d9b8.</a:t>
            </a:r>
          </a:p>
          <a:p>
            <a:pPr>
              <a:defRPr sz="1900">
                <a:solidFill>
                  <a:srgbClr val="6B7A87"/>
                </a:solidFill>
                <a:latin typeface="Arial"/>
                <a:ea typeface="Arial"/>
                <a:cs typeface="Arial"/>
                <a:sym typeface="Arial"/>
              </a:defRPr>
            </a:pPr>
            <a:r>
              <a:t>Media hashes, source reports and exact protocol paths accompany this deck.</a:t>
            </a:r>
          </a:p>
        </p:txBody>
      </p:sp>
      <p:sp>
        <p:nvSpPr>
          <p:cNvPr id="356" name="19"/>
          <p:cNvSpPr txBox="1"/>
          <p:nvPr/>
        </p:nvSpPr>
        <p:spPr>
          <a:xfrm>
            <a:off x="15239999" y="8667338"/>
            <a:ext cx="571501" cy="254824"/>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500">
                <a:solidFill>
                  <a:srgbClr val="6B7A87"/>
                </a:solidFill>
                <a:latin typeface="Arial"/>
                <a:ea typeface="Arial"/>
                <a:cs typeface="Arial"/>
                <a:sym typeface="Arial"/>
              </a:defRPr>
            </a:lvl1pPr>
          </a:lstStyle>
          <a:p>
            <a:pPr/>
            <a:r>
              <a:t>19</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3175" cap="flat">
          <a:noFill/>
          <a:miter lim="400000"/>
        </a:ln>
        <a:effectLst/>
        <a:sp3d/>
      </a:spPr>
      <a:bodyPr rot="0" spcFirstLastPara="1" vertOverflow="overflow" horzOverflow="overflow" vert="horz" wrap="square" lIns="22577" tIns="22577" rIns="22577" bIns="22577" numCol="1" spcCol="38100" rtlCol="0" anchor="ctr" upright="0">
        <a:spAutoFit/>
      </a:bodyPr>
      <a:lstStyle>
        <a:defPPr marL="0" marR="0" indent="0" algn="ctr" defTabSz="550333"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3175" cap="flat">
          <a:noFill/>
          <a:miter lim="400000"/>
        </a:ln>
        <a:effectLst/>
        <a:sp3d/>
      </a:spPr>
      <a:bodyPr rot="0" spcFirstLastPara="1" vertOverflow="overflow" horzOverflow="overflow" vert="horz" wrap="square" lIns="22577" tIns="22577" rIns="22577" bIns="22577" numCol="1" spcCol="38100" rtlCol="0" anchor="ctr" upright="0">
        <a:spAutoFit/>
      </a:bodyPr>
      <a:lstStyle>
        <a:defPPr marL="0" marR="0" indent="0" algn="l" defTabSz="1625559" rtl="0" fontAlgn="auto" latinLnBrk="0" hangingPunct="0">
          <a:lnSpc>
            <a:spcPct val="90000"/>
          </a:lnSpc>
          <a:spcBef>
            <a:spcPts val="30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3175" cap="flat">
          <a:noFill/>
          <a:miter lim="400000"/>
        </a:ln>
        <a:effectLst/>
        <a:sp3d/>
      </a:spPr>
      <a:bodyPr rot="0" spcFirstLastPara="1" vertOverflow="overflow" horzOverflow="overflow" vert="horz" wrap="square" lIns="22577" tIns="22577" rIns="22577" bIns="22577" numCol="1" spcCol="38100" rtlCol="0" anchor="ctr" upright="0">
        <a:spAutoFit/>
      </a:bodyPr>
      <a:lstStyle>
        <a:defPPr marL="0" marR="0" indent="0" algn="ctr" defTabSz="550333"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3175" cap="flat">
          <a:noFill/>
          <a:miter lim="400000"/>
        </a:ln>
        <a:effectLst/>
        <a:sp3d/>
      </a:spPr>
      <a:bodyPr rot="0" spcFirstLastPara="1" vertOverflow="overflow" horzOverflow="overflow" vert="horz" wrap="square" lIns="22577" tIns="22577" rIns="22577" bIns="22577" numCol="1" spcCol="38100" rtlCol="0" anchor="ctr" upright="0">
        <a:spAutoFit/>
      </a:bodyPr>
      <a:lstStyle>
        <a:defPPr marL="0" marR="0" indent="0" algn="l" defTabSz="1625559" rtl="0" fontAlgn="auto" latinLnBrk="0" hangingPunct="0">
          <a:lnSpc>
            <a:spcPct val="90000"/>
          </a:lnSpc>
          <a:spcBef>
            <a:spcPts val="3000"/>
          </a:spcBef>
          <a:spcAft>
            <a:spcPts val="0"/>
          </a:spcAft>
          <a:buClrTx/>
          <a:buSzTx/>
          <a:buFontTx/>
          <a:buNone/>
          <a:tabLst/>
          <a:defRPr b="0" baseline="0" cap="none" i="0" spc="0" strike="noStrike" sz="32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